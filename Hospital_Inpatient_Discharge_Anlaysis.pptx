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2"/>
  </p:notesMasterIdLst>
  <p:sldIdLst>
    <p:sldId id="256" r:id="rId2"/>
    <p:sldId id="258" r:id="rId3"/>
    <p:sldId id="308" r:id="rId4"/>
    <p:sldId id="259" r:id="rId5"/>
    <p:sldId id="311" r:id="rId6"/>
    <p:sldId id="315" r:id="rId7"/>
    <p:sldId id="312" r:id="rId8"/>
    <p:sldId id="316" r:id="rId9"/>
    <p:sldId id="317" r:id="rId10"/>
    <p:sldId id="318" r:id="rId11"/>
    <p:sldId id="319" r:id="rId12"/>
    <p:sldId id="320" r:id="rId13"/>
    <p:sldId id="309" r:id="rId14"/>
    <p:sldId id="313" r:id="rId15"/>
    <p:sldId id="321" r:id="rId16"/>
    <p:sldId id="314" r:id="rId17"/>
    <p:sldId id="322" r:id="rId18"/>
    <p:sldId id="323" r:id="rId19"/>
    <p:sldId id="324" r:id="rId20"/>
    <p:sldId id="325" r:id="rId21"/>
  </p:sldIdLst>
  <p:sldSz cx="9144000" cy="5143500" type="screen16x9"/>
  <p:notesSz cx="6858000" cy="9144000"/>
  <p:embeddedFontLst>
    <p:embeddedFont>
      <p:font typeface="IBM Plex Mono" panose="020B0604020202020204" charset="0"/>
      <p:regular r:id="rId23"/>
      <p:bold r:id="rId24"/>
      <p:italic r:id="rId25"/>
      <p:boldItalic r:id="rId26"/>
    </p:embeddedFont>
    <p:embeddedFont>
      <p:font typeface="Poppins" panose="020B0604020202020204" charset="0"/>
      <p:regular r:id="rId27"/>
      <p:bold r:id="rId28"/>
      <p:italic r:id="rId29"/>
      <p:boldItalic r:id="rId30"/>
    </p:embeddedFont>
    <p:embeddedFont>
      <p:font typeface="Source Code Pro" panose="020B060402020202020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C43510-CF84-4879-85BA-7CC280FB692D}">
  <a:tblStyle styleId="{BFC43510-CF84-4879-85BA-7CC280FB692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331"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9" name="Google Shape;1429;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9649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3240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61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4867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08177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89040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7" name="Google Shape;97;p3"/>
          <p:cNvSpPr txBox="1">
            <a:spLocks noGrp="1"/>
          </p:cNvSpPr>
          <p:nvPr>
            <p:ph type="title" idx="2" hasCustomPrompt="1"/>
          </p:nvPr>
        </p:nvSpPr>
        <p:spPr>
          <a:xfrm>
            <a:off x="720000" y="1025725"/>
            <a:ext cx="1702500" cy="993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200">
                <a:latin typeface="Poppins"/>
                <a:ea typeface="Poppins"/>
                <a:cs typeface="Poppins"/>
                <a:sym typeface="Poppins"/>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8" name="Google Shape;98;p3"/>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5" name="Google Shape;11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 name="Google Shape;13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96" name="Google Shape;496;p13"/>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13"/>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13"/>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13"/>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5" name="Google Shape;505;p13"/>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6" name="Google Shape;506;p13"/>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07" name="Google Shape;507;p13"/>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9"/>
        <p:cNvGrpSpPr/>
        <p:nvPr/>
      </p:nvGrpSpPr>
      <p:grpSpPr>
        <a:xfrm>
          <a:off x="0" y="0"/>
          <a:ext cx="0" cy="0"/>
          <a:chOff x="0" y="0"/>
          <a:chExt cx="0" cy="0"/>
        </a:xfrm>
      </p:grpSpPr>
      <p:grpSp>
        <p:nvGrpSpPr>
          <p:cNvPr id="1340" name="Google Shape;1340;p30"/>
          <p:cNvGrpSpPr/>
          <p:nvPr/>
        </p:nvGrpSpPr>
        <p:grpSpPr>
          <a:xfrm>
            <a:off x="-623241" y="3925887"/>
            <a:ext cx="2833357" cy="1517787"/>
            <a:chOff x="-623241" y="3849687"/>
            <a:chExt cx="2833357" cy="1517787"/>
          </a:xfrm>
        </p:grpSpPr>
        <p:grpSp>
          <p:nvGrpSpPr>
            <p:cNvPr id="1341" name="Google Shape;1341;p30"/>
            <p:cNvGrpSpPr/>
            <p:nvPr/>
          </p:nvGrpSpPr>
          <p:grpSpPr>
            <a:xfrm rot="5400000">
              <a:off x="-879113" y="4155104"/>
              <a:ext cx="1517787" cy="906953"/>
              <a:chOff x="-55500" y="4835979"/>
              <a:chExt cx="1517787" cy="906953"/>
            </a:xfrm>
          </p:grpSpPr>
          <p:sp>
            <p:nvSpPr>
              <p:cNvPr id="1342" name="Google Shape;1342;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6" name="Google Shape;1346;p30"/>
            <p:cNvGrpSpPr/>
            <p:nvPr/>
          </p:nvGrpSpPr>
          <p:grpSpPr>
            <a:xfrm>
              <a:off x="-623241" y="3946426"/>
              <a:ext cx="2833357" cy="1421047"/>
              <a:chOff x="-677366" y="4067276"/>
              <a:chExt cx="2833357" cy="1421047"/>
            </a:xfrm>
          </p:grpSpPr>
          <p:sp>
            <p:nvSpPr>
              <p:cNvPr id="1347" name="Google Shape;1347;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8" name="Google Shape;1348;p30"/>
              <p:cNvGrpSpPr/>
              <p:nvPr/>
            </p:nvGrpSpPr>
            <p:grpSpPr>
              <a:xfrm>
                <a:off x="317735" y="4614472"/>
                <a:ext cx="161977" cy="161940"/>
                <a:chOff x="1101075" y="2142375"/>
                <a:chExt cx="439200" cy="439100"/>
              </a:xfrm>
            </p:grpSpPr>
            <p:sp>
              <p:nvSpPr>
                <p:cNvPr id="1349" name="Google Shape;1349;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1" name="Google Shape;1351;p30"/>
              <p:cNvGrpSpPr/>
              <p:nvPr/>
            </p:nvGrpSpPr>
            <p:grpSpPr>
              <a:xfrm rot="10800000">
                <a:off x="1700151" y="5032693"/>
                <a:ext cx="161977" cy="161940"/>
                <a:chOff x="1101075" y="2142375"/>
                <a:chExt cx="439200" cy="439100"/>
              </a:xfrm>
            </p:grpSpPr>
            <p:sp>
              <p:nvSpPr>
                <p:cNvPr id="1352" name="Google Shape;1352;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4" name="Google Shape;1354;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30"/>
          <p:cNvGrpSpPr/>
          <p:nvPr/>
        </p:nvGrpSpPr>
        <p:grpSpPr>
          <a:xfrm>
            <a:off x="6323925" y="-1678249"/>
            <a:ext cx="4189199" cy="3065874"/>
            <a:chOff x="6171525" y="-1678249"/>
            <a:chExt cx="4189199" cy="3065874"/>
          </a:xfrm>
        </p:grpSpPr>
        <p:sp>
          <p:nvSpPr>
            <p:cNvPr id="1356" name="Google Shape;1356;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7" name="Google Shape;1357;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8" name="Google Shape;1358;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9" name="Google Shape;1359;p30"/>
            <p:cNvGrpSpPr/>
            <p:nvPr/>
          </p:nvGrpSpPr>
          <p:grpSpPr>
            <a:xfrm rot="-2700000">
              <a:off x="8302147" y="61289"/>
              <a:ext cx="582044" cy="582419"/>
              <a:chOff x="959750" y="3039275"/>
              <a:chExt cx="582050" cy="582425"/>
            </a:xfrm>
          </p:grpSpPr>
          <p:sp>
            <p:nvSpPr>
              <p:cNvPr id="1360" name="Google Shape;1360;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7" name="Google Shape;1367;p30"/>
            <p:cNvGrpSpPr/>
            <p:nvPr/>
          </p:nvGrpSpPr>
          <p:grpSpPr>
            <a:xfrm rot="-2700000">
              <a:off x="8551447" y="61289"/>
              <a:ext cx="582044" cy="582419"/>
              <a:chOff x="959750" y="3039275"/>
              <a:chExt cx="582050" cy="582425"/>
            </a:xfrm>
          </p:grpSpPr>
          <p:sp>
            <p:nvSpPr>
              <p:cNvPr id="1368" name="Google Shape;1368;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5" name="Google Shape;1375;p30"/>
          <p:cNvGrpSpPr/>
          <p:nvPr/>
        </p:nvGrpSpPr>
        <p:grpSpPr>
          <a:xfrm rot="2700000">
            <a:off x="8945322" y="2352177"/>
            <a:ext cx="439196" cy="439096"/>
            <a:chOff x="1101075" y="2142375"/>
            <a:chExt cx="439200" cy="439100"/>
          </a:xfrm>
        </p:grpSpPr>
        <p:sp>
          <p:nvSpPr>
            <p:cNvPr id="1376" name="Google Shape;1376;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8"/>
        <p:cNvGrpSpPr/>
        <p:nvPr/>
      </p:nvGrpSpPr>
      <p:grpSpPr>
        <a:xfrm>
          <a:off x="0" y="0"/>
          <a:ext cx="0" cy="0"/>
          <a:chOff x="0" y="0"/>
          <a:chExt cx="0" cy="0"/>
        </a:xfrm>
      </p:grpSpPr>
      <p:grpSp>
        <p:nvGrpSpPr>
          <p:cNvPr id="1379" name="Google Shape;1379;p31"/>
          <p:cNvGrpSpPr/>
          <p:nvPr/>
        </p:nvGrpSpPr>
        <p:grpSpPr>
          <a:xfrm>
            <a:off x="8332551" y="-7"/>
            <a:ext cx="2386151" cy="3293873"/>
            <a:chOff x="8256351" y="-7"/>
            <a:chExt cx="2386151" cy="3293873"/>
          </a:xfrm>
        </p:grpSpPr>
        <p:pic>
          <p:nvPicPr>
            <p:cNvPr id="1380" name="Google Shape;1380;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1" name="Google Shape;1381;p31"/>
            <p:cNvGrpSpPr/>
            <p:nvPr/>
          </p:nvGrpSpPr>
          <p:grpSpPr>
            <a:xfrm rot="10800000">
              <a:off x="8452444" y="-7"/>
              <a:ext cx="325154" cy="1788670"/>
              <a:chOff x="8869019" y="-622132"/>
              <a:chExt cx="325154" cy="1788670"/>
            </a:xfrm>
          </p:grpSpPr>
          <p:sp>
            <p:nvSpPr>
              <p:cNvPr id="1382" name="Google Shape;1382;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3" name="Google Shape;1383;p31"/>
              <p:cNvGrpSpPr/>
              <p:nvPr/>
            </p:nvGrpSpPr>
            <p:grpSpPr>
              <a:xfrm rot="1800062">
                <a:off x="9035610" y="1007995"/>
                <a:ext cx="134040" cy="134009"/>
                <a:chOff x="1101075" y="2142375"/>
                <a:chExt cx="439200" cy="439100"/>
              </a:xfrm>
            </p:grpSpPr>
            <p:sp>
              <p:nvSpPr>
                <p:cNvPr id="1384" name="Google Shape;1384;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6" name="Google Shape;1386;p31"/>
          <p:cNvGrpSpPr/>
          <p:nvPr/>
        </p:nvGrpSpPr>
        <p:grpSpPr>
          <a:xfrm>
            <a:off x="-213525" y="171225"/>
            <a:ext cx="439200" cy="439100"/>
            <a:chOff x="1101075" y="2142375"/>
            <a:chExt cx="439200" cy="439100"/>
          </a:xfrm>
        </p:grpSpPr>
        <p:sp>
          <p:nvSpPr>
            <p:cNvPr id="1387" name="Google Shape;1387;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31"/>
          <p:cNvGrpSpPr/>
          <p:nvPr/>
        </p:nvGrpSpPr>
        <p:grpSpPr>
          <a:xfrm>
            <a:off x="-1262974" y="3161328"/>
            <a:ext cx="4822591" cy="2934500"/>
            <a:chOff x="-1186774" y="3161328"/>
            <a:chExt cx="4822591" cy="2934500"/>
          </a:xfrm>
        </p:grpSpPr>
        <p:pic>
          <p:nvPicPr>
            <p:cNvPr id="1390" name="Google Shape;1390;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1" name="Google Shape;1391;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2" name="Google Shape;1392;p31"/>
            <p:cNvGrpSpPr/>
            <p:nvPr/>
          </p:nvGrpSpPr>
          <p:grpSpPr>
            <a:xfrm>
              <a:off x="58899" y="4608583"/>
              <a:ext cx="604346" cy="657081"/>
              <a:chOff x="58899" y="4608583"/>
              <a:chExt cx="604346" cy="657081"/>
            </a:xfrm>
          </p:grpSpPr>
          <p:grpSp>
            <p:nvGrpSpPr>
              <p:cNvPr id="1393" name="Google Shape;1393;p31"/>
              <p:cNvGrpSpPr/>
              <p:nvPr/>
            </p:nvGrpSpPr>
            <p:grpSpPr>
              <a:xfrm rot="10800000">
                <a:off x="58899" y="4608583"/>
                <a:ext cx="328346" cy="328531"/>
                <a:chOff x="3678700" y="407275"/>
                <a:chExt cx="708100" cy="708500"/>
              </a:xfrm>
            </p:grpSpPr>
            <p:sp>
              <p:nvSpPr>
                <p:cNvPr id="1394" name="Google Shape;1394;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1" name="Google Shape;1401;p31"/>
              <p:cNvGrpSpPr/>
              <p:nvPr/>
            </p:nvGrpSpPr>
            <p:grpSpPr>
              <a:xfrm rot="10800000">
                <a:off x="334899" y="4608583"/>
                <a:ext cx="328346" cy="328531"/>
                <a:chOff x="3678700" y="407275"/>
                <a:chExt cx="708100" cy="708500"/>
              </a:xfrm>
            </p:grpSpPr>
            <p:sp>
              <p:nvSpPr>
                <p:cNvPr id="1402" name="Google Shape;1402;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9" name="Google Shape;1409;p31"/>
              <p:cNvGrpSpPr/>
              <p:nvPr/>
            </p:nvGrpSpPr>
            <p:grpSpPr>
              <a:xfrm rot="10800000">
                <a:off x="282574" y="4937133"/>
                <a:ext cx="328346" cy="328531"/>
                <a:chOff x="3678700" y="407275"/>
                <a:chExt cx="708100" cy="708500"/>
              </a:xfrm>
            </p:grpSpPr>
            <p:sp>
              <p:nvSpPr>
                <p:cNvPr id="1410" name="Google Shape;1410;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7" name="Google Shape;1417;p31"/>
            <p:cNvGrpSpPr/>
            <p:nvPr/>
          </p:nvGrpSpPr>
          <p:grpSpPr>
            <a:xfrm>
              <a:off x="-923150" y="4796551"/>
              <a:ext cx="4558967" cy="134100"/>
              <a:chOff x="796100" y="3019701"/>
              <a:chExt cx="4558967" cy="134100"/>
            </a:xfrm>
          </p:grpSpPr>
          <p:sp>
            <p:nvSpPr>
              <p:cNvPr id="1418" name="Google Shape;1418;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9" name="Google Shape;1419;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20" name="Google Shape;1420;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8" r:id="rId3"/>
    <p:sldLayoutId id="2147483659" r:id="rId4"/>
    <p:sldLayoutId id="2147483676" r:id="rId5"/>
    <p:sldLayoutId id="2147483677"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0"/>
        <p:cNvGrpSpPr/>
        <p:nvPr/>
      </p:nvGrpSpPr>
      <p:grpSpPr>
        <a:xfrm>
          <a:off x="0" y="0"/>
          <a:ext cx="0" cy="0"/>
          <a:chOff x="0" y="0"/>
          <a:chExt cx="0" cy="0"/>
        </a:xfrm>
      </p:grpSpPr>
      <p:sp>
        <p:nvSpPr>
          <p:cNvPr id="1431" name="Google Shape;1431;p35"/>
          <p:cNvSpPr txBox="1">
            <a:spLocks noGrp="1"/>
          </p:cNvSpPr>
          <p:nvPr>
            <p:ph type="subTitle" idx="1"/>
          </p:nvPr>
        </p:nvSpPr>
        <p:spPr>
          <a:xfrm>
            <a:off x="231687" y="3569981"/>
            <a:ext cx="4882500" cy="69956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smtClean="0">
                <a:latin typeface="IBM Plex Mono" panose="020B0604020202020204" charset="0"/>
                <a:cs typeface="Times New Roman" panose="02020603050405020304" pitchFamily="18" charset="0"/>
              </a:rPr>
              <a:t>Praveen Venkateshan</a:t>
            </a:r>
            <a:br>
              <a:rPr lang="en" b="1" dirty="0" smtClean="0">
                <a:latin typeface="IBM Plex Mono" panose="020B0604020202020204" charset="0"/>
                <a:cs typeface="Times New Roman" panose="02020603050405020304" pitchFamily="18" charset="0"/>
              </a:rPr>
            </a:br>
            <a:r>
              <a:rPr lang="en" b="1" dirty="0" smtClean="0">
                <a:latin typeface="IBM Plex Mono" panose="020B0604020202020204" charset="0"/>
                <a:cs typeface="Times New Roman" panose="02020603050405020304" pitchFamily="18" charset="0"/>
              </a:rPr>
              <a:t>July 25, 2024</a:t>
            </a:r>
          </a:p>
          <a:p>
            <a:pPr marL="0" lvl="0" indent="0" algn="l" rtl="0">
              <a:spcBef>
                <a:spcPts val="0"/>
              </a:spcBef>
              <a:spcAft>
                <a:spcPts val="0"/>
              </a:spcAft>
              <a:buNone/>
            </a:pPr>
            <a:endParaRPr b="1" dirty="0">
              <a:latin typeface="IBM Plex Mono" panose="020B0604020202020204" charset="0"/>
              <a:cs typeface="Times New Roman" panose="02020603050405020304" pitchFamily="18" charset="0"/>
            </a:endParaRPr>
          </a:p>
        </p:txBody>
      </p:sp>
      <p:sp>
        <p:nvSpPr>
          <p:cNvPr id="1432" name="Google Shape;1432;p35"/>
          <p:cNvSpPr txBox="1">
            <a:spLocks noGrp="1"/>
          </p:cNvSpPr>
          <p:nvPr>
            <p:ph type="ctrTitle"/>
          </p:nvPr>
        </p:nvSpPr>
        <p:spPr>
          <a:xfrm>
            <a:off x="-218049" y="757372"/>
            <a:ext cx="9362049" cy="2326500"/>
          </a:xfrm>
          <a:prstGeom prst="rect">
            <a:avLst/>
          </a:prstGeom>
        </p:spPr>
        <p:txBody>
          <a:bodyPr spcFirstLastPara="1" wrap="square" lIns="91425" tIns="91425" rIns="91425" bIns="91425" anchor="b" anchorCtr="0">
            <a:noAutofit/>
          </a:bodyPr>
          <a:lstStyle/>
          <a:p>
            <a:pPr algn="ctr">
              <a:lnSpc>
                <a:spcPct val="100000"/>
              </a:lnSpc>
              <a:buClr>
                <a:schemeClr val="dk2"/>
              </a:buClr>
              <a:buSzPts val="3000"/>
            </a:pPr>
            <a:r>
              <a:rPr lang="en-IN" sz="3600" dirty="0" smtClean="0"/>
              <a:t>Presentation</a:t>
            </a:r>
            <a:br>
              <a:rPr lang="en-IN" sz="3600" dirty="0" smtClean="0"/>
            </a:br>
            <a:r>
              <a:rPr lang="en-US" sz="2400" dirty="0" smtClean="0"/>
              <a:t>Analyzing Hospital Inpatient Data</a:t>
            </a:r>
            <a:br>
              <a:rPr lang="en-US" sz="2400" dirty="0" smtClean="0"/>
            </a:br>
            <a:r>
              <a:rPr lang="en-US" sz="2400" dirty="0" smtClean="0"/>
              <a:t>Knee Arthroplasty Focus</a:t>
            </a:r>
            <a:endParaRPr sz="2400" dirty="0"/>
          </a:p>
        </p:txBody>
      </p:sp>
      <p:grpSp>
        <p:nvGrpSpPr>
          <p:cNvPr id="1433" name="Google Shape;1433;p35"/>
          <p:cNvGrpSpPr/>
          <p:nvPr/>
        </p:nvGrpSpPr>
        <p:grpSpPr>
          <a:xfrm>
            <a:off x="344228" y="3452594"/>
            <a:ext cx="3936683" cy="134070"/>
            <a:chOff x="1096850" y="3242811"/>
            <a:chExt cx="3936683" cy="134070"/>
          </a:xfrm>
        </p:grpSpPr>
        <p:cxnSp>
          <p:nvCxnSpPr>
            <p:cNvPr id="1434" name="Google Shape;1434;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5" name="Google Shape;1435;p35"/>
            <p:cNvGrpSpPr/>
            <p:nvPr/>
          </p:nvGrpSpPr>
          <p:grpSpPr>
            <a:xfrm>
              <a:off x="4899464" y="3242811"/>
              <a:ext cx="134070" cy="134070"/>
              <a:chOff x="8382514" y="1084976"/>
              <a:chExt cx="265800" cy="265800"/>
            </a:xfrm>
          </p:grpSpPr>
          <p:sp>
            <p:nvSpPr>
              <p:cNvPr id="1436" name="Google Shape;1436;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8" name="Google Shape;1438;p35"/>
          <p:cNvGrpSpPr/>
          <p:nvPr/>
        </p:nvGrpSpPr>
        <p:grpSpPr>
          <a:xfrm>
            <a:off x="8017432" y="-313900"/>
            <a:ext cx="134070" cy="1891362"/>
            <a:chOff x="8017432" y="-313900"/>
            <a:chExt cx="134070" cy="1891362"/>
          </a:xfrm>
        </p:grpSpPr>
        <p:sp>
          <p:nvSpPr>
            <p:cNvPr id="1439" name="Google Shape;1439;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40" name="Google Shape;1440;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1" name="Google Shape;1441;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2" name="Google Shape;1442;p35"/>
          <p:cNvGrpSpPr/>
          <p:nvPr/>
        </p:nvGrpSpPr>
        <p:grpSpPr>
          <a:xfrm>
            <a:off x="6309526" y="957475"/>
            <a:ext cx="3504715" cy="5119205"/>
            <a:chOff x="6309526" y="836950"/>
            <a:chExt cx="3504715" cy="5119205"/>
          </a:xfrm>
        </p:grpSpPr>
        <p:sp>
          <p:nvSpPr>
            <p:cNvPr id="1443" name="Google Shape;1443;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4" name="Google Shape;1444;p35"/>
            <p:cNvGrpSpPr/>
            <p:nvPr/>
          </p:nvGrpSpPr>
          <p:grpSpPr>
            <a:xfrm>
              <a:off x="7728436" y="3524084"/>
              <a:ext cx="134004" cy="134004"/>
              <a:chOff x="8356813" y="1074288"/>
              <a:chExt cx="351900" cy="351900"/>
            </a:xfrm>
          </p:grpSpPr>
          <p:sp>
            <p:nvSpPr>
              <p:cNvPr id="1445" name="Google Shape;1445;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7" name="Google Shape;1447;p35"/>
            <p:cNvGrpSpPr/>
            <p:nvPr/>
          </p:nvGrpSpPr>
          <p:grpSpPr>
            <a:xfrm>
              <a:off x="7344361" y="3150259"/>
              <a:ext cx="134004" cy="134004"/>
              <a:chOff x="8356813" y="1074288"/>
              <a:chExt cx="351900" cy="351900"/>
            </a:xfrm>
          </p:grpSpPr>
          <p:sp>
            <p:nvSpPr>
              <p:cNvPr id="1448" name="Google Shape;1448;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0" name="Google Shape;1450;p35"/>
            <p:cNvGrpSpPr/>
            <p:nvPr/>
          </p:nvGrpSpPr>
          <p:grpSpPr>
            <a:xfrm>
              <a:off x="8337811" y="2464059"/>
              <a:ext cx="134004" cy="134004"/>
              <a:chOff x="8356813" y="1074288"/>
              <a:chExt cx="351900" cy="351900"/>
            </a:xfrm>
          </p:grpSpPr>
          <p:sp>
            <p:nvSpPr>
              <p:cNvPr id="1451" name="Google Shape;1451;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3" name="Google Shape;1453;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p37"/>
          <p:cNvSpPr txBox="1">
            <a:spLocks noGrp="1"/>
          </p:cNvSpPr>
          <p:nvPr>
            <p:ph type="title"/>
          </p:nvPr>
        </p:nvSpPr>
        <p:spPr>
          <a:xfrm>
            <a:off x="686136" y="87174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smtClean="0"/>
              <a:t>Agenda</a:t>
            </a:r>
            <a:endParaRPr sz="2400" dirty="0">
              <a:solidFill>
                <a:schemeClr val="dk2"/>
              </a:solidFill>
              <a:sym typeface="IBM Plex Mono"/>
            </a:endParaRPr>
          </a:p>
        </p:txBody>
      </p:sp>
      <p:sp>
        <p:nvSpPr>
          <p:cNvPr id="1468" name="Google Shape;1468;p37"/>
          <p:cNvSpPr txBox="1">
            <a:spLocks noGrp="1"/>
          </p:cNvSpPr>
          <p:nvPr>
            <p:ph type="subTitle" idx="9"/>
          </p:nvPr>
        </p:nvSpPr>
        <p:spPr>
          <a:xfrm>
            <a:off x="1530693" y="1591083"/>
            <a:ext cx="2836068" cy="526057"/>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sz="2000" dirty="0" smtClean="0"/>
              <a:t>Introduction</a:t>
            </a:r>
            <a:endParaRPr sz="2000" dirty="0"/>
          </a:p>
        </p:txBody>
      </p:sp>
      <p:sp>
        <p:nvSpPr>
          <p:cNvPr id="1473" name="Google Shape;1473;p37"/>
          <p:cNvSpPr txBox="1">
            <a:spLocks noGrp="1"/>
          </p:cNvSpPr>
          <p:nvPr>
            <p:ph type="title" idx="5"/>
          </p:nvPr>
        </p:nvSpPr>
        <p:spPr>
          <a:xfrm>
            <a:off x="386177" y="1476940"/>
            <a:ext cx="1057500" cy="640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a:t>01</a:t>
            </a:r>
            <a:endParaRPr sz="2000" dirty="0"/>
          </a:p>
        </p:txBody>
      </p:sp>
      <p:sp>
        <p:nvSpPr>
          <p:cNvPr id="17" name="Google Shape;1468;p37"/>
          <p:cNvSpPr txBox="1">
            <a:spLocks noGrp="1"/>
          </p:cNvSpPr>
          <p:nvPr>
            <p:ph type="subTitle" idx="9"/>
          </p:nvPr>
        </p:nvSpPr>
        <p:spPr>
          <a:xfrm>
            <a:off x="1530691" y="2079888"/>
            <a:ext cx="4809151" cy="555415"/>
          </a:xfrm>
          <a:prstGeom prst="rect">
            <a:avLst/>
          </a:prstGeom>
        </p:spPr>
        <p:txBody>
          <a:bodyPr spcFirstLastPara="1" wrap="square" lIns="91425" tIns="91425" rIns="91425" bIns="91425" anchor="b" anchorCtr="0">
            <a:noAutofit/>
          </a:bodyPr>
          <a:lstStyle/>
          <a:p>
            <a:pPr marL="0" lvl="0" indent="0"/>
            <a:r>
              <a:rPr lang="en-IN" sz="2000" dirty="0"/>
              <a:t>Data Exploration and Cleaning</a:t>
            </a:r>
            <a:endParaRPr sz="2000" dirty="0"/>
          </a:p>
        </p:txBody>
      </p:sp>
      <p:sp>
        <p:nvSpPr>
          <p:cNvPr id="18" name="Google Shape;1473;p37"/>
          <p:cNvSpPr txBox="1">
            <a:spLocks noGrp="1"/>
          </p:cNvSpPr>
          <p:nvPr>
            <p:ph type="title" idx="5"/>
          </p:nvPr>
        </p:nvSpPr>
        <p:spPr>
          <a:xfrm>
            <a:off x="376021" y="2049473"/>
            <a:ext cx="1057500" cy="58583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smtClean="0"/>
              <a:t>02</a:t>
            </a:r>
            <a:endParaRPr sz="2000" dirty="0"/>
          </a:p>
        </p:txBody>
      </p:sp>
      <p:sp>
        <p:nvSpPr>
          <p:cNvPr id="22" name="Google Shape;1468;p37"/>
          <p:cNvSpPr txBox="1">
            <a:spLocks noGrp="1"/>
          </p:cNvSpPr>
          <p:nvPr>
            <p:ph type="subTitle" idx="9"/>
          </p:nvPr>
        </p:nvSpPr>
        <p:spPr>
          <a:xfrm>
            <a:off x="1540855" y="2963795"/>
            <a:ext cx="7379628" cy="555415"/>
          </a:xfrm>
          <a:prstGeom prst="rect">
            <a:avLst/>
          </a:prstGeom>
        </p:spPr>
        <p:txBody>
          <a:bodyPr spcFirstLastPara="1" wrap="square" lIns="91425" tIns="91425" rIns="91425" bIns="91425" anchor="b" anchorCtr="0">
            <a:noAutofit/>
          </a:bodyPr>
          <a:lstStyle/>
          <a:p>
            <a:pPr marL="0" lvl="0" indent="0"/>
            <a:r>
              <a:rPr lang="en-US" sz="2000" dirty="0"/>
              <a:t>Solving Key Research Challenges in Knee Arthroplasty</a:t>
            </a:r>
            <a:endParaRPr sz="2000" dirty="0"/>
          </a:p>
        </p:txBody>
      </p:sp>
      <p:sp>
        <p:nvSpPr>
          <p:cNvPr id="23" name="Google Shape;1473;p37"/>
          <p:cNvSpPr txBox="1">
            <a:spLocks noGrp="1"/>
          </p:cNvSpPr>
          <p:nvPr>
            <p:ph type="title" idx="5"/>
          </p:nvPr>
        </p:nvSpPr>
        <p:spPr>
          <a:xfrm>
            <a:off x="386185" y="2601499"/>
            <a:ext cx="1057500" cy="58583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smtClean="0"/>
              <a:t>03</a:t>
            </a:r>
            <a:endParaRPr sz="2000" dirty="0"/>
          </a:p>
        </p:txBody>
      </p:sp>
      <p:sp>
        <p:nvSpPr>
          <p:cNvPr id="24" name="Google Shape;1468;p37"/>
          <p:cNvSpPr txBox="1">
            <a:spLocks noGrp="1"/>
          </p:cNvSpPr>
          <p:nvPr>
            <p:ph type="subTitle" idx="9"/>
          </p:nvPr>
        </p:nvSpPr>
        <p:spPr>
          <a:xfrm>
            <a:off x="1527215" y="3457121"/>
            <a:ext cx="2836068" cy="526057"/>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sz="2000" dirty="0" smtClean="0"/>
              <a:t>Limitations </a:t>
            </a:r>
            <a:endParaRPr sz="2000" dirty="0"/>
          </a:p>
        </p:txBody>
      </p:sp>
      <p:sp>
        <p:nvSpPr>
          <p:cNvPr id="25" name="Google Shape;1473;p37"/>
          <p:cNvSpPr txBox="1">
            <a:spLocks noGrp="1"/>
          </p:cNvSpPr>
          <p:nvPr>
            <p:ph type="title" idx="5"/>
          </p:nvPr>
        </p:nvSpPr>
        <p:spPr>
          <a:xfrm>
            <a:off x="386177" y="3342978"/>
            <a:ext cx="1057500" cy="640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smtClean="0"/>
              <a:t>04</a:t>
            </a:r>
            <a:endParaRPr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84" name="Google Shape;1484;p38"/>
          <p:cNvSpPr txBox="1">
            <a:spLocks noGrp="1"/>
          </p:cNvSpPr>
          <p:nvPr>
            <p:ph type="title" idx="2"/>
          </p:nvPr>
        </p:nvSpPr>
        <p:spPr>
          <a:xfrm>
            <a:off x="720000" y="1025725"/>
            <a:ext cx="527024" cy="39588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smtClean="0"/>
              <a:t>01</a:t>
            </a:r>
            <a:endParaRPr sz="2000" dirty="0"/>
          </a:p>
        </p:txBody>
      </p:sp>
      <p:grpSp>
        <p:nvGrpSpPr>
          <p:cNvPr id="1486" name="Google Shape;1486;p38"/>
          <p:cNvGrpSpPr/>
          <p:nvPr/>
        </p:nvGrpSpPr>
        <p:grpSpPr>
          <a:xfrm>
            <a:off x="-374387" y="3354325"/>
            <a:ext cx="3922590" cy="2969900"/>
            <a:chOff x="-374387" y="3354325"/>
            <a:chExt cx="3922590" cy="2969900"/>
          </a:xfrm>
        </p:grpSpPr>
        <p:pic>
          <p:nvPicPr>
            <p:cNvPr id="1487" name="Google Shape;1487;p38"/>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p:cNvGrpSpPr/>
            <p:nvPr/>
          </p:nvGrpSpPr>
          <p:grpSpPr>
            <a:xfrm>
              <a:off x="1853583" y="4445557"/>
              <a:ext cx="1694620" cy="1360169"/>
              <a:chOff x="7945225" y="4302000"/>
              <a:chExt cx="904666" cy="726121"/>
            </a:xfrm>
          </p:grpSpPr>
          <p:sp>
            <p:nvSpPr>
              <p:cNvPr id="1489" name="Google Shape;1489;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2" name="Google Shape;1492;p38"/>
          <p:cNvSpPr txBox="1">
            <a:spLocks noGrp="1"/>
          </p:cNvSpPr>
          <p:nvPr>
            <p:ph type="title"/>
          </p:nvPr>
        </p:nvSpPr>
        <p:spPr>
          <a:xfrm>
            <a:off x="1247024" y="879126"/>
            <a:ext cx="5612844" cy="634263"/>
          </a:xfrm>
          <a:prstGeom prst="rect">
            <a:avLst/>
          </a:prstGeom>
        </p:spPr>
        <p:txBody>
          <a:bodyPr spcFirstLastPara="1" wrap="square" lIns="91425" tIns="91425" rIns="91425" bIns="91425" anchor="ctr" anchorCtr="0">
            <a:noAutofit/>
          </a:bodyPr>
          <a:lstStyle/>
          <a:p>
            <a:r>
              <a:rPr lang="en-US" sz="2000" dirty="0" smtClean="0"/>
              <a:t>Introduction</a:t>
            </a:r>
            <a:endParaRPr sz="1400" dirty="0">
              <a:solidFill>
                <a:schemeClr val="tx1"/>
              </a:solidFill>
            </a:endParaRPr>
          </a:p>
        </p:txBody>
      </p:sp>
      <p:grpSp>
        <p:nvGrpSpPr>
          <p:cNvPr id="1493" name="Google Shape;1493;p38"/>
          <p:cNvGrpSpPr/>
          <p:nvPr/>
        </p:nvGrpSpPr>
        <p:grpSpPr>
          <a:xfrm>
            <a:off x="6487513" y="-1307948"/>
            <a:ext cx="4268216" cy="6666030"/>
            <a:chOff x="6128138" y="-1301175"/>
            <a:chExt cx="4268216" cy="6666030"/>
          </a:xfrm>
        </p:grpSpPr>
        <p:sp>
          <p:nvSpPr>
            <p:cNvPr id="1494" name="Google Shape;1494;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9" name="Google Shape;1499;p38"/>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500" name="Google Shape;1500;p38"/>
            <p:cNvGrpSpPr/>
            <p:nvPr/>
          </p:nvGrpSpPr>
          <p:grpSpPr>
            <a:xfrm rot="5400000">
              <a:off x="7873341" y="4254316"/>
              <a:ext cx="708100" cy="708500"/>
              <a:chOff x="3678700" y="407275"/>
              <a:chExt cx="708100" cy="708500"/>
            </a:xfrm>
          </p:grpSpPr>
          <p:sp>
            <p:nvSpPr>
              <p:cNvPr id="1501" name="Google Shape;1501;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8"/>
            <p:cNvGrpSpPr/>
            <p:nvPr/>
          </p:nvGrpSpPr>
          <p:grpSpPr>
            <a:xfrm rot="5400000">
              <a:off x="8639847" y="3354200"/>
              <a:ext cx="457787" cy="458045"/>
              <a:chOff x="3678700" y="407275"/>
              <a:chExt cx="708100" cy="708500"/>
            </a:xfrm>
          </p:grpSpPr>
          <p:sp>
            <p:nvSpPr>
              <p:cNvPr id="1509" name="Google Shape;1509;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8"/>
            <p:cNvGrpSpPr/>
            <p:nvPr/>
          </p:nvGrpSpPr>
          <p:grpSpPr>
            <a:xfrm>
              <a:off x="7787267" y="539497"/>
              <a:ext cx="208184" cy="208184"/>
              <a:chOff x="8356813" y="1074288"/>
              <a:chExt cx="351900" cy="351900"/>
            </a:xfrm>
          </p:grpSpPr>
          <p:sp>
            <p:nvSpPr>
              <p:cNvPr id="1517" name="Google Shape;1517;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38"/>
            <p:cNvGrpSpPr/>
            <p:nvPr/>
          </p:nvGrpSpPr>
          <p:grpSpPr>
            <a:xfrm>
              <a:off x="7194842" y="2467660"/>
              <a:ext cx="208184" cy="208184"/>
              <a:chOff x="8356813" y="1074288"/>
              <a:chExt cx="351900" cy="351900"/>
            </a:xfrm>
          </p:grpSpPr>
          <p:sp>
            <p:nvSpPr>
              <p:cNvPr id="1520" name="Google Shape;1520;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2" name="Google Shape;1522;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38"/>
          <p:cNvGrpSpPr/>
          <p:nvPr/>
        </p:nvGrpSpPr>
        <p:grpSpPr>
          <a:xfrm>
            <a:off x="832724" y="4086316"/>
            <a:ext cx="4558967" cy="134100"/>
            <a:chOff x="796100" y="3019701"/>
            <a:chExt cx="4558967" cy="134100"/>
          </a:xfrm>
        </p:grpSpPr>
        <p:sp>
          <p:nvSpPr>
            <p:cNvPr id="1524" name="Google Shape;1524;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Subtitle 1"/>
          <p:cNvSpPr>
            <a:spLocks noGrp="1"/>
          </p:cNvSpPr>
          <p:nvPr>
            <p:ph type="subTitle" idx="1"/>
          </p:nvPr>
        </p:nvSpPr>
        <p:spPr>
          <a:xfrm>
            <a:off x="717514" y="1534165"/>
            <a:ext cx="6414828" cy="2105277"/>
          </a:xfrm>
        </p:spPr>
        <p:txBody>
          <a:bodyPr/>
          <a:lstStyle/>
          <a:p>
            <a:pPr algn="just">
              <a:buFont typeface="Arial" panose="020B0604020202020204" pitchFamily="34" charset="0"/>
              <a:buChar char="•"/>
            </a:pPr>
            <a:r>
              <a:rPr lang="en-US" sz="1200" dirty="0" smtClean="0">
                <a:latin typeface="IBM Plex Mono" panose="020B0604020202020204" charset="0"/>
              </a:rPr>
              <a:t>Knee arthroplasty involves replacing damaged knee joints with artificial ones to relieve pain and restore function.</a:t>
            </a:r>
          </a:p>
          <a:p>
            <a:pPr algn="just">
              <a:buFont typeface="Arial" panose="020B0604020202020204" pitchFamily="34" charset="0"/>
              <a:buChar char="•"/>
            </a:pPr>
            <a:endParaRPr lang="en-US" sz="1200" dirty="0">
              <a:latin typeface="IBM Plex Mono" panose="020B0604020202020204" charset="0"/>
            </a:endParaRPr>
          </a:p>
          <a:p>
            <a:pPr algn="just">
              <a:buFont typeface="Arial" panose="020B0604020202020204" pitchFamily="34" charset="0"/>
              <a:buChar char="•"/>
            </a:pPr>
            <a:r>
              <a:rPr lang="en-US" sz="1200" dirty="0">
                <a:latin typeface="IBM Plex Mono" panose="020B0604020202020204" charset="0"/>
              </a:rPr>
              <a:t>It primarily affects patients with severe osteoarthritis, rheumatoid arthritis, post-traumatic arthritis, and knee deformities.</a:t>
            </a:r>
          </a:p>
          <a:p>
            <a:pPr marL="139700" indent="0" algn="just"/>
            <a:endParaRPr lang="en-US" sz="1200" dirty="0">
              <a:latin typeface="IBM Plex Mono" panose="020B0604020202020204" charset="0"/>
            </a:endParaRPr>
          </a:p>
          <a:p>
            <a:pPr algn="just">
              <a:buFont typeface="Arial" panose="020B0604020202020204" pitchFamily="34" charset="0"/>
              <a:buChar char="•"/>
            </a:pPr>
            <a:r>
              <a:rPr lang="en-US" sz="1200" dirty="0">
                <a:latin typeface="IBM Plex Mono" panose="020B0604020202020204" charset="0"/>
              </a:rPr>
              <a:t>Knee arthroplasty is most common in adults aged 60 and older, increasingly performed in those aged 40 to 60, and occasionally in individuals under 40 due to trauma or early-onset arthritis.</a:t>
            </a:r>
          </a:p>
          <a:p>
            <a:pPr>
              <a:buFont typeface="Arial" panose="020B0604020202020204" pitchFamily="34" charset="0"/>
              <a:buChar char="•"/>
            </a:pPr>
            <a:endParaRPr lang="en-US" sz="1200" dirty="0">
              <a:latin typeface="IBM Plex Mono" panose="020B0604020202020204" charset="0"/>
            </a:endParaRPr>
          </a:p>
        </p:txBody>
      </p:sp>
    </p:spTree>
    <p:extLst>
      <p:ext uri="{BB962C8B-B14F-4D97-AF65-F5344CB8AC3E}">
        <p14:creationId xmlns:p14="http://schemas.microsoft.com/office/powerpoint/2010/main" val="15319188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84" name="Google Shape;1484;p38"/>
          <p:cNvSpPr txBox="1">
            <a:spLocks noGrp="1"/>
          </p:cNvSpPr>
          <p:nvPr>
            <p:ph type="title" idx="2"/>
          </p:nvPr>
        </p:nvSpPr>
        <p:spPr>
          <a:xfrm>
            <a:off x="720000" y="1025725"/>
            <a:ext cx="496970" cy="395881"/>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dirty="0" smtClean="0"/>
              <a:t>02</a:t>
            </a:r>
            <a:endParaRPr sz="2000" dirty="0"/>
          </a:p>
        </p:txBody>
      </p:sp>
      <p:grpSp>
        <p:nvGrpSpPr>
          <p:cNvPr id="1486" name="Google Shape;1486;p38"/>
          <p:cNvGrpSpPr/>
          <p:nvPr/>
        </p:nvGrpSpPr>
        <p:grpSpPr>
          <a:xfrm>
            <a:off x="-374387" y="3354325"/>
            <a:ext cx="3922590" cy="2969900"/>
            <a:chOff x="-374387" y="3354325"/>
            <a:chExt cx="3922590" cy="2969900"/>
          </a:xfrm>
        </p:grpSpPr>
        <p:pic>
          <p:nvPicPr>
            <p:cNvPr id="1487" name="Google Shape;1487;p38"/>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p:cNvGrpSpPr/>
            <p:nvPr/>
          </p:nvGrpSpPr>
          <p:grpSpPr>
            <a:xfrm>
              <a:off x="1853583" y="4445557"/>
              <a:ext cx="1694620" cy="1360169"/>
              <a:chOff x="7945225" y="4302000"/>
              <a:chExt cx="904666" cy="726121"/>
            </a:xfrm>
          </p:grpSpPr>
          <p:sp>
            <p:nvSpPr>
              <p:cNvPr id="1489" name="Google Shape;1489;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2" name="Google Shape;1492;p38"/>
          <p:cNvSpPr txBox="1">
            <a:spLocks noGrp="1"/>
          </p:cNvSpPr>
          <p:nvPr>
            <p:ph type="title"/>
          </p:nvPr>
        </p:nvSpPr>
        <p:spPr>
          <a:xfrm>
            <a:off x="1318172" y="1029924"/>
            <a:ext cx="7546645" cy="348766"/>
          </a:xfrm>
          <a:prstGeom prst="rect">
            <a:avLst/>
          </a:prstGeom>
        </p:spPr>
        <p:txBody>
          <a:bodyPr spcFirstLastPara="1" wrap="square" lIns="91425" tIns="91425" rIns="91425" bIns="91425" anchor="ctr" anchorCtr="0">
            <a:noAutofit/>
          </a:bodyPr>
          <a:lstStyle/>
          <a:p>
            <a:pPr marL="0" indent="0"/>
            <a:r>
              <a:rPr lang="en-US" sz="2000" dirty="0" smtClean="0"/>
              <a:t>Data Exploration and Cleaning</a:t>
            </a:r>
            <a:endParaRPr sz="2000" dirty="0"/>
          </a:p>
        </p:txBody>
      </p:sp>
      <p:grpSp>
        <p:nvGrpSpPr>
          <p:cNvPr id="1493" name="Google Shape;1493;p38"/>
          <p:cNvGrpSpPr/>
          <p:nvPr/>
        </p:nvGrpSpPr>
        <p:grpSpPr>
          <a:xfrm>
            <a:off x="6487513" y="-1301175"/>
            <a:ext cx="4268216" cy="6666030"/>
            <a:chOff x="6128138" y="-1301175"/>
            <a:chExt cx="4268216" cy="6666030"/>
          </a:xfrm>
        </p:grpSpPr>
        <p:sp>
          <p:nvSpPr>
            <p:cNvPr id="1494" name="Google Shape;1494;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9" name="Google Shape;1499;p38"/>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500" name="Google Shape;1500;p38"/>
            <p:cNvGrpSpPr/>
            <p:nvPr/>
          </p:nvGrpSpPr>
          <p:grpSpPr>
            <a:xfrm rot="5400000">
              <a:off x="7873341" y="4254316"/>
              <a:ext cx="708100" cy="708500"/>
              <a:chOff x="3678700" y="407275"/>
              <a:chExt cx="708100" cy="708500"/>
            </a:xfrm>
          </p:grpSpPr>
          <p:sp>
            <p:nvSpPr>
              <p:cNvPr id="1501" name="Google Shape;1501;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8"/>
            <p:cNvGrpSpPr/>
            <p:nvPr/>
          </p:nvGrpSpPr>
          <p:grpSpPr>
            <a:xfrm rot="5400000">
              <a:off x="8639847" y="3354200"/>
              <a:ext cx="457787" cy="458045"/>
              <a:chOff x="3678700" y="407275"/>
              <a:chExt cx="708100" cy="708500"/>
            </a:xfrm>
          </p:grpSpPr>
          <p:sp>
            <p:nvSpPr>
              <p:cNvPr id="1509" name="Google Shape;1509;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8"/>
            <p:cNvGrpSpPr/>
            <p:nvPr/>
          </p:nvGrpSpPr>
          <p:grpSpPr>
            <a:xfrm>
              <a:off x="7787267" y="539497"/>
              <a:ext cx="208184" cy="208184"/>
              <a:chOff x="8356813" y="1074288"/>
              <a:chExt cx="351900" cy="351900"/>
            </a:xfrm>
          </p:grpSpPr>
          <p:sp>
            <p:nvSpPr>
              <p:cNvPr id="1517" name="Google Shape;1517;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38"/>
            <p:cNvGrpSpPr/>
            <p:nvPr/>
          </p:nvGrpSpPr>
          <p:grpSpPr>
            <a:xfrm>
              <a:off x="7194842" y="2467660"/>
              <a:ext cx="208184" cy="208184"/>
              <a:chOff x="8356813" y="1074288"/>
              <a:chExt cx="351900" cy="351900"/>
            </a:xfrm>
          </p:grpSpPr>
          <p:sp>
            <p:nvSpPr>
              <p:cNvPr id="1520" name="Google Shape;1520;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2" name="Google Shape;1522;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Subtitle 1"/>
          <p:cNvSpPr>
            <a:spLocks noGrp="1"/>
          </p:cNvSpPr>
          <p:nvPr>
            <p:ph type="subTitle" idx="1"/>
          </p:nvPr>
        </p:nvSpPr>
        <p:spPr>
          <a:xfrm>
            <a:off x="594334" y="1360880"/>
            <a:ext cx="8148674" cy="3022127"/>
          </a:xfrm>
        </p:spPr>
        <p:txBody>
          <a:bodyPr/>
          <a:lstStyle/>
          <a:p>
            <a:pPr marL="425450" indent="-285750">
              <a:buFont typeface="+mj-lt"/>
              <a:buAutoNum type="romanLcPeriod"/>
            </a:pPr>
            <a:endParaRPr lang="en-US" sz="1200" dirty="0" smtClean="0">
              <a:latin typeface="IBM Plex Mono" panose="020B0604020202020204" charset="0"/>
            </a:endParaRPr>
          </a:p>
          <a:p>
            <a:pPr marL="139700" indent="0"/>
            <a:r>
              <a:rPr lang="en-US" sz="1200" dirty="0">
                <a:latin typeface="IBM Plex Mono" panose="020B0604020202020204" charset="0"/>
              </a:rPr>
              <a:t>	</a:t>
            </a:r>
          </a:p>
        </p:txBody>
      </p:sp>
      <p:sp>
        <p:nvSpPr>
          <p:cNvPr id="3" name="Rectangle 2"/>
          <p:cNvSpPr/>
          <p:nvPr/>
        </p:nvSpPr>
        <p:spPr>
          <a:xfrm>
            <a:off x="897640" y="1616883"/>
            <a:ext cx="7788589" cy="2492990"/>
          </a:xfrm>
          <a:prstGeom prst="rect">
            <a:avLst/>
          </a:prstGeom>
        </p:spPr>
        <p:txBody>
          <a:bodyPr wrap="square">
            <a:spAutoFit/>
          </a:bodyPr>
          <a:lstStyle/>
          <a:p>
            <a:pPr marL="285750" indent="-285750" algn="just">
              <a:buFont typeface="Arial" panose="020B0604020202020204" pitchFamily="34" charset="0"/>
              <a:buChar char="•"/>
            </a:pPr>
            <a:r>
              <a:rPr lang="en-US" sz="1200" dirty="0">
                <a:latin typeface="IBM Plex Mono" panose="020B0604020202020204" charset="0"/>
              </a:rPr>
              <a:t>Converted 'Length of Stay' from categorical to numeric and discarded 'Discharge Year' as it only contained the year 2021.</a:t>
            </a:r>
          </a:p>
          <a:p>
            <a:pPr marL="285750" indent="-285750" algn="just">
              <a:buFont typeface="Arial" panose="020B0604020202020204" pitchFamily="34" charset="0"/>
              <a:buChar char="•"/>
            </a:pPr>
            <a:endParaRPr lang="en-US" sz="1200" dirty="0">
              <a:latin typeface="IBM Plex Mono" panose="020B0604020202020204" charset="0"/>
            </a:endParaRPr>
          </a:p>
          <a:p>
            <a:pPr marL="285750" indent="-285750" algn="just">
              <a:buFont typeface="Arial" panose="020B0604020202020204" pitchFamily="34" charset="0"/>
              <a:buChar char="•"/>
            </a:pPr>
            <a:r>
              <a:rPr lang="en-US" sz="1200" dirty="0">
                <a:latin typeface="IBM Plex Mono" panose="020B0604020202020204" charset="0"/>
              </a:rPr>
              <a:t>Extracted knee arthroplasty patients using the 'APR DRG Description' attribute.</a:t>
            </a:r>
          </a:p>
          <a:p>
            <a:pPr marL="285750" indent="-285750" algn="just">
              <a:buFont typeface="Arial" panose="020B0604020202020204" pitchFamily="34" charset="0"/>
              <a:buChar char="•"/>
            </a:pPr>
            <a:endParaRPr lang="en-US" sz="1200" dirty="0">
              <a:latin typeface="IBM Plex Mono" panose="020B0604020202020204" charset="0"/>
            </a:endParaRPr>
          </a:p>
          <a:p>
            <a:pPr marL="285750" indent="-285750" algn="just">
              <a:buFont typeface="Arial" panose="020B0604020202020204" pitchFamily="34" charset="0"/>
              <a:buChar char="•"/>
            </a:pPr>
            <a:r>
              <a:rPr lang="en-US" sz="1200" dirty="0">
                <a:latin typeface="IBM Plex Mono" panose="020B0604020202020204" charset="0"/>
              </a:rPr>
              <a:t>Removed irrelevant attributes with IDs and codes, and handled missing values by eliminating columns with over 40% missing data and imputing the rest.</a:t>
            </a:r>
          </a:p>
          <a:p>
            <a:pPr marL="285750" indent="-285750" algn="just">
              <a:buFont typeface="Arial" panose="020B0604020202020204" pitchFamily="34" charset="0"/>
              <a:buChar char="•"/>
            </a:pPr>
            <a:endParaRPr lang="en-US" sz="1200" dirty="0">
              <a:latin typeface="IBM Plex Mono" panose="020B0604020202020204" charset="0"/>
            </a:endParaRPr>
          </a:p>
          <a:p>
            <a:pPr marL="285750" indent="-285750" algn="just">
              <a:buFont typeface="Arial" panose="020B0604020202020204" pitchFamily="34" charset="0"/>
              <a:buChar char="•"/>
            </a:pPr>
            <a:r>
              <a:rPr lang="en-US" sz="1200" dirty="0">
                <a:latin typeface="IBM Plex Mono" panose="020B0604020202020204" charset="0"/>
              </a:rPr>
              <a:t>Excluded Payment Typology 2 and 3 due to missing values, focusing on Payment Typology 1.</a:t>
            </a:r>
          </a:p>
          <a:p>
            <a:pPr marL="285750" indent="-285750" algn="just">
              <a:buFont typeface="Arial" panose="020B0604020202020204" pitchFamily="34" charset="0"/>
              <a:buChar char="•"/>
            </a:pPr>
            <a:endParaRPr lang="en-US" sz="1200" dirty="0">
              <a:latin typeface="IBM Plex Mono" panose="020B0604020202020204" charset="0"/>
            </a:endParaRPr>
          </a:p>
          <a:p>
            <a:pPr marL="285750" indent="-285750" algn="just">
              <a:buFont typeface="Arial" panose="020B0604020202020204" pitchFamily="34" charset="0"/>
              <a:buChar char="•"/>
            </a:pPr>
            <a:r>
              <a:rPr lang="en-US" sz="1200" dirty="0">
                <a:latin typeface="IBM Plex Mono" panose="020B0604020202020204" charset="0"/>
              </a:rPr>
              <a:t>Created a 'Payment Type' feature by classifying Payment Typology 1 into 'Government Insurance' and 'Private Payer'</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grpSp>
        <p:nvGrpSpPr>
          <p:cNvPr id="1486" name="Google Shape;1486;p38"/>
          <p:cNvGrpSpPr/>
          <p:nvPr/>
        </p:nvGrpSpPr>
        <p:grpSpPr>
          <a:xfrm>
            <a:off x="-374387" y="3354325"/>
            <a:ext cx="3922590" cy="2969900"/>
            <a:chOff x="-374387" y="3354325"/>
            <a:chExt cx="3922590" cy="2969900"/>
          </a:xfrm>
        </p:grpSpPr>
        <p:pic>
          <p:nvPicPr>
            <p:cNvPr id="1487" name="Google Shape;1487;p38"/>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p:cNvGrpSpPr/>
            <p:nvPr/>
          </p:nvGrpSpPr>
          <p:grpSpPr>
            <a:xfrm>
              <a:off x="1853583" y="4445557"/>
              <a:ext cx="1694620" cy="1360169"/>
              <a:chOff x="7945225" y="4302000"/>
              <a:chExt cx="904666" cy="726121"/>
            </a:xfrm>
          </p:grpSpPr>
          <p:sp>
            <p:nvSpPr>
              <p:cNvPr id="1489" name="Google Shape;1489;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Subtitle 1"/>
          <p:cNvSpPr>
            <a:spLocks noGrp="1"/>
          </p:cNvSpPr>
          <p:nvPr>
            <p:ph type="subTitle" idx="1"/>
          </p:nvPr>
        </p:nvSpPr>
        <p:spPr>
          <a:xfrm>
            <a:off x="514642" y="839247"/>
            <a:ext cx="8148674" cy="3022127"/>
          </a:xfrm>
        </p:spPr>
        <p:txBody>
          <a:bodyPr/>
          <a:lstStyle/>
          <a:p>
            <a:pPr marL="139700" indent="0"/>
            <a:endParaRPr lang="en-US" sz="1200" dirty="0" smtClean="0">
              <a:latin typeface="IBM Plex Mono" panose="020B0604020202020204" charset="0"/>
            </a:endParaRPr>
          </a:p>
          <a:p>
            <a:pPr marL="425450" indent="-285750">
              <a:buFont typeface="+mj-lt"/>
              <a:buAutoNum type="romanLcPeriod"/>
            </a:pPr>
            <a:endParaRPr lang="en-US" sz="1200" dirty="0" smtClean="0">
              <a:latin typeface="IBM Plex Mono" panose="020B0604020202020204" charset="0"/>
            </a:endParaRPr>
          </a:p>
          <a:p>
            <a:pPr marL="139700" indent="0"/>
            <a:r>
              <a:rPr lang="en-US" sz="1200" dirty="0">
                <a:latin typeface="IBM Plex Mono" panose="020B0604020202020204" charset="0"/>
              </a:rPr>
              <a:t>	</a:t>
            </a:r>
          </a:p>
        </p:txBody>
      </p:sp>
      <p:pic>
        <p:nvPicPr>
          <p:cNvPr id="3" name="Picture 2"/>
          <p:cNvPicPr>
            <a:picLocks noChangeAspect="1"/>
          </p:cNvPicPr>
          <p:nvPr/>
        </p:nvPicPr>
        <p:blipFill>
          <a:blip r:embed="rId4"/>
          <a:stretch>
            <a:fillRect/>
          </a:stretch>
        </p:blipFill>
        <p:spPr>
          <a:xfrm>
            <a:off x="2226694" y="528795"/>
            <a:ext cx="4358447" cy="4050883"/>
          </a:xfrm>
          <a:prstGeom prst="rect">
            <a:avLst/>
          </a:prstGeom>
        </p:spPr>
      </p:pic>
    </p:spTree>
    <p:extLst>
      <p:ext uri="{BB962C8B-B14F-4D97-AF65-F5344CB8AC3E}">
        <p14:creationId xmlns:p14="http://schemas.microsoft.com/office/powerpoint/2010/main" val="2553470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2"/>
          </p:nvPr>
        </p:nvSpPr>
        <p:spPr>
          <a:xfrm>
            <a:off x="667372" y="466559"/>
            <a:ext cx="6154446" cy="993600"/>
          </a:xfrm>
        </p:spPr>
        <p:txBody>
          <a:bodyPr/>
          <a:lstStyle/>
          <a:p>
            <a:r>
              <a:rPr lang="en-US" sz="2000" dirty="0" smtClean="0">
                <a:latin typeface="IBM Plex Mono" panose="020B0604020202020204" charset="0"/>
              </a:rPr>
              <a:t>Univariate Analysis</a:t>
            </a:r>
            <a:endParaRPr lang="en-IN" sz="2000" dirty="0">
              <a:latin typeface="IBM Plex Mono" panose="020B0604020202020204" charset="0"/>
            </a:endParaRPr>
          </a:p>
        </p:txBody>
      </p:sp>
      <p:pic>
        <p:nvPicPr>
          <p:cNvPr id="5" name="Picture 4"/>
          <p:cNvPicPr>
            <a:picLocks noChangeAspect="1"/>
          </p:cNvPicPr>
          <p:nvPr/>
        </p:nvPicPr>
        <p:blipFill>
          <a:blip r:embed="rId2"/>
          <a:stretch>
            <a:fillRect/>
          </a:stretch>
        </p:blipFill>
        <p:spPr>
          <a:xfrm>
            <a:off x="249980" y="1400952"/>
            <a:ext cx="2605053" cy="2355323"/>
          </a:xfrm>
          <a:prstGeom prst="rect">
            <a:avLst/>
          </a:prstGeom>
        </p:spPr>
      </p:pic>
      <p:pic>
        <p:nvPicPr>
          <p:cNvPr id="6" name="Picture 5"/>
          <p:cNvPicPr>
            <a:picLocks noChangeAspect="1"/>
          </p:cNvPicPr>
          <p:nvPr/>
        </p:nvPicPr>
        <p:blipFill>
          <a:blip r:embed="rId3"/>
          <a:stretch>
            <a:fillRect/>
          </a:stretch>
        </p:blipFill>
        <p:spPr>
          <a:xfrm>
            <a:off x="2927395" y="1739865"/>
            <a:ext cx="2993180" cy="1677495"/>
          </a:xfrm>
          <a:prstGeom prst="rect">
            <a:avLst/>
          </a:prstGeom>
        </p:spPr>
      </p:pic>
      <p:pic>
        <p:nvPicPr>
          <p:cNvPr id="7" name="Picture 6"/>
          <p:cNvPicPr>
            <a:picLocks noChangeAspect="1"/>
          </p:cNvPicPr>
          <p:nvPr/>
        </p:nvPicPr>
        <p:blipFill>
          <a:blip r:embed="rId4"/>
          <a:stretch>
            <a:fillRect/>
          </a:stretch>
        </p:blipFill>
        <p:spPr>
          <a:xfrm>
            <a:off x="5992938" y="1460159"/>
            <a:ext cx="2835296" cy="2355323"/>
          </a:xfrm>
          <a:prstGeom prst="rect">
            <a:avLst/>
          </a:prstGeom>
        </p:spPr>
      </p:pic>
      <p:sp>
        <p:nvSpPr>
          <p:cNvPr id="8" name="TextBox 7"/>
          <p:cNvSpPr txBox="1"/>
          <p:nvPr/>
        </p:nvSpPr>
        <p:spPr>
          <a:xfrm>
            <a:off x="486803" y="4039148"/>
            <a:ext cx="8229600" cy="461665"/>
          </a:xfrm>
          <a:prstGeom prst="rect">
            <a:avLst/>
          </a:prstGeom>
          <a:noFill/>
        </p:spPr>
        <p:txBody>
          <a:bodyPr wrap="square" rtlCol="0">
            <a:spAutoFit/>
          </a:bodyPr>
          <a:lstStyle/>
          <a:p>
            <a:pPr algn="just"/>
            <a:r>
              <a:rPr lang="en-US" sz="1200" dirty="0">
                <a:latin typeface="IBM Plex Mono" panose="020B0604020202020204" charset="0"/>
              </a:rPr>
              <a:t>From the plots above, we can clearly observe the data </a:t>
            </a:r>
            <a:r>
              <a:rPr lang="en-US" sz="1200" dirty="0" smtClean="0">
                <a:latin typeface="IBM Plex Mono" panose="020B0604020202020204" charset="0"/>
              </a:rPr>
              <a:t>is related </a:t>
            </a:r>
            <a:r>
              <a:rPr lang="en-US" sz="1200" dirty="0">
                <a:latin typeface="IBM Plex Mono" panose="020B0604020202020204" charset="0"/>
              </a:rPr>
              <a:t>to knee arthroplasty, as discussed in the Introduction.</a:t>
            </a:r>
            <a:endParaRPr lang="en-IN" sz="1200" dirty="0">
              <a:latin typeface="IBM Plex Mono" panose="020B0604020202020204" charset="0"/>
            </a:endParaRPr>
          </a:p>
        </p:txBody>
      </p:sp>
    </p:spTree>
    <p:extLst>
      <p:ext uri="{BB962C8B-B14F-4D97-AF65-F5344CB8AC3E}">
        <p14:creationId xmlns:p14="http://schemas.microsoft.com/office/powerpoint/2010/main" val="16939784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grpSp>
        <p:nvGrpSpPr>
          <p:cNvPr id="1486" name="Google Shape;1486;p38"/>
          <p:cNvGrpSpPr/>
          <p:nvPr/>
        </p:nvGrpSpPr>
        <p:grpSpPr>
          <a:xfrm>
            <a:off x="-364704" y="3354329"/>
            <a:ext cx="3922590" cy="2969900"/>
            <a:chOff x="-374387" y="3354325"/>
            <a:chExt cx="3922590" cy="2969900"/>
          </a:xfrm>
        </p:grpSpPr>
        <p:pic>
          <p:nvPicPr>
            <p:cNvPr id="1487" name="Google Shape;1487;p38"/>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p:cNvGrpSpPr/>
            <p:nvPr/>
          </p:nvGrpSpPr>
          <p:grpSpPr>
            <a:xfrm>
              <a:off x="1853583" y="4445557"/>
              <a:ext cx="1694620" cy="1360169"/>
              <a:chOff x="7945225" y="4302000"/>
              <a:chExt cx="904666" cy="726121"/>
            </a:xfrm>
          </p:grpSpPr>
          <p:sp>
            <p:nvSpPr>
              <p:cNvPr id="1489" name="Google Shape;1489;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3" name="Google Shape;1493;p38"/>
          <p:cNvGrpSpPr/>
          <p:nvPr/>
        </p:nvGrpSpPr>
        <p:grpSpPr>
          <a:xfrm>
            <a:off x="6487513" y="-1301175"/>
            <a:ext cx="4268216" cy="6666030"/>
            <a:chOff x="6128138" y="-1301175"/>
            <a:chExt cx="4268216" cy="6666030"/>
          </a:xfrm>
        </p:grpSpPr>
        <p:sp>
          <p:nvSpPr>
            <p:cNvPr id="1494" name="Google Shape;1494;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9" name="Google Shape;1499;p38"/>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500" name="Google Shape;1500;p38"/>
            <p:cNvGrpSpPr/>
            <p:nvPr/>
          </p:nvGrpSpPr>
          <p:grpSpPr>
            <a:xfrm rot="5400000">
              <a:off x="7873341" y="4254316"/>
              <a:ext cx="708100" cy="708500"/>
              <a:chOff x="3678700" y="407275"/>
              <a:chExt cx="708100" cy="708500"/>
            </a:xfrm>
          </p:grpSpPr>
          <p:sp>
            <p:nvSpPr>
              <p:cNvPr id="1501" name="Google Shape;1501;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8"/>
            <p:cNvGrpSpPr/>
            <p:nvPr/>
          </p:nvGrpSpPr>
          <p:grpSpPr>
            <a:xfrm rot="5400000">
              <a:off x="8639847" y="3354200"/>
              <a:ext cx="457787" cy="458045"/>
              <a:chOff x="3678700" y="407275"/>
              <a:chExt cx="708100" cy="708500"/>
            </a:xfrm>
          </p:grpSpPr>
          <p:sp>
            <p:nvSpPr>
              <p:cNvPr id="1509" name="Google Shape;1509;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8"/>
            <p:cNvGrpSpPr/>
            <p:nvPr/>
          </p:nvGrpSpPr>
          <p:grpSpPr>
            <a:xfrm>
              <a:off x="7787267" y="539497"/>
              <a:ext cx="208184" cy="208184"/>
              <a:chOff x="8356813" y="1074288"/>
              <a:chExt cx="351900" cy="351900"/>
            </a:xfrm>
          </p:grpSpPr>
          <p:sp>
            <p:nvSpPr>
              <p:cNvPr id="1517" name="Google Shape;1517;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38"/>
            <p:cNvGrpSpPr/>
            <p:nvPr/>
          </p:nvGrpSpPr>
          <p:grpSpPr>
            <a:xfrm>
              <a:off x="7194842" y="2467660"/>
              <a:ext cx="208184" cy="208184"/>
              <a:chOff x="8356813" y="1074288"/>
              <a:chExt cx="351900" cy="351900"/>
            </a:xfrm>
          </p:grpSpPr>
          <p:sp>
            <p:nvSpPr>
              <p:cNvPr id="1520" name="Google Shape;1520;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2" name="Google Shape;1522;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 name="Picture 17"/>
          <p:cNvPicPr>
            <a:picLocks noChangeAspect="1"/>
          </p:cNvPicPr>
          <p:nvPr/>
        </p:nvPicPr>
        <p:blipFill>
          <a:blip r:embed="rId4"/>
          <a:stretch>
            <a:fillRect/>
          </a:stretch>
        </p:blipFill>
        <p:spPr>
          <a:xfrm>
            <a:off x="304827" y="1239912"/>
            <a:ext cx="2997120" cy="2316798"/>
          </a:xfrm>
          <a:prstGeom prst="rect">
            <a:avLst/>
          </a:prstGeom>
        </p:spPr>
      </p:pic>
      <p:pic>
        <p:nvPicPr>
          <p:cNvPr id="19" name="Picture 18"/>
          <p:cNvPicPr>
            <a:picLocks noChangeAspect="1"/>
          </p:cNvPicPr>
          <p:nvPr/>
        </p:nvPicPr>
        <p:blipFill>
          <a:blip r:embed="rId5"/>
          <a:stretch>
            <a:fillRect/>
          </a:stretch>
        </p:blipFill>
        <p:spPr>
          <a:xfrm>
            <a:off x="3431257" y="1236162"/>
            <a:ext cx="2176029" cy="2328974"/>
          </a:xfrm>
          <a:prstGeom prst="rect">
            <a:avLst/>
          </a:prstGeom>
        </p:spPr>
      </p:pic>
      <p:pic>
        <p:nvPicPr>
          <p:cNvPr id="21" name="Picture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62902" y="1239167"/>
            <a:ext cx="3101915" cy="2328975"/>
          </a:xfrm>
          <a:prstGeom prst="rect">
            <a:avLst/>
          </a:prstGeom>
        </p:spPr>
      </p:pic>
      <p:sp>
        <p:nvSpPr>
          <p:cNvPr id="22" name="TextBox 21"/>
          <p:cNvSpPr txBox="1"/>
          <p:nvPr/>
        </p:nvSpPr>
        <p:spPr>
          <a:xfrm>
            <a:off x="717973" y="3812116"/>
            <a:ext cx="7694712" cy="461665"/>
          </a:xfrm>
          <a:prstGeom prst="rect">
            <a:avLst/>
          </a:prstGeom>
          <a:noFill/>
        </p:spPr>
        <p:txBody>
          <a:bodyPr wrap="square" rtlCol="0">
            <a:spAutoFit/>
          </a:bodyPr>
          <a:lstStyle/>
          <a:p>
            <a:pPr algn="just"/>
            <a:r>
              <a:rPr lang="en-US" sz="1200" dirty="0">
                <a:latin typeface="IBM Plex Mono" panose="020B0604020202020204" charset="0"/>
              </a:rPr>
              <a:t>The above plots reveal that the majority of knee arthroplasty patients are from New York City, with a predominance of females and individuals of White race.</a:t>
            </a:r>
            <a:endParaRPr lang="en-IN" sz="1200" dirty="0">
              <a:latin typeface="IBM Plex Mono" panose="020B0604020202020204" charset="0"/>
            </a:endParaRPr>
          </a:p>
        </p:txBody>
      </p:sp>
    </p:spTree>
    <p:extLst>
      <p:ext uri="{BB962C8B-B14F-4D97-AF65-F5344CB8AC3E}">
        <p14:creationId xmlns:p14="http://schemas.microsoft.com/office/powerpoint/2010/main" val="25286244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23625" y="743361"/>
            <a:ext cx="3835217" cy="400110"/>
          </a:xfrm>
          <a:prstGeom prst="rect">
            <a:avLst/>
          </a:prstGeom>
          <a:noFill/>
        </p:spPr>
        <p:txBody>
          <a:bodyPr wrap="square" rtlCol="0">
            <a:spAutoFit/>
          </a:bodyPr>
          <a:lstStyle/>
          <a:p>
            <a:r>
              <a:rPr lang="en-US" sz="2000" b="1" dirty="0" smtClean="0">
                <a:solidFill>
                  <a:schemeClr val="bg2"/>
                </a:solidFill>
                <a:latin typeface="IBM Plex Mono" panose="020B0604020202020204" charset="0"/>
              </a:rPr>
              <a:t>Bivariate</a:t>
            </a:r>
            <a:r>
              <a:rPr lang="en-US" b="1" dirty="0" smtClean="0">
                <a:solidFill>
                  <a:schemeClr val="bg2"/>
                </a:solidFill>
              </a:rPr>
              <a:t> </a:t>
            </a:r>
            <a:r>
              <a:rPr lang="en-US" sz="2000" b="1" dirty="0" smtClean="0">
                <a:solidFill>
                  <a:schemeClr val="bg2"/>
                </a:solidFill>
                <a:latin typeface="IBM Plex Mono" panose="020B0604020202020204" charset="0"/>
              </a:rPr>
              <a:t>Analysis</a:t>
            </a:r>
            <a:endParaRPr lang="en-IN" sz="2000" dirty="0">
              <a:latin typeface="IBM Plex Mono" panose="020B0604020202020204"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088" y="1261883"/>
            <a:ext cx="3082290" cy="2547021"/>
          </a:xfrm>
          <a:prstGeom prst="rect">
            <a:avLst/>
          </a:prstGeom>
        </p:spPr>
      </p:pic>
      <p:sp>
        <p:nvSpPr>
          <p:cNvPr id="7" name="TextBox 6"/>
          <p:cNvSpPr txBox="1"/>
          <p:nvPr/>
        </p:nvSpPr>
        <p:spPr>
          <a:xfrm>
            <a:off x="1100088" y="3966786"/>
            <a:ext cx="7517639" cy="461665"/>
          </a:xfrm>
          <a:prstGeom prst="rect">
            <a:avLst/>
          </a:prstGeom>
          <a:noFill/>
        </p:spPr>
        <p:txBody>
          <a:bodyPr wrap="square" rtlCol="0">
            <a:spAutoFit/>
          </a:bodyPr>
          <a:lstStyle/>
          <a:p>
            <a:r>
              <a:rPr lang="en-US" sz="1200" dirty="0">
                <a:latin typeface="IBM Plex Mono" panose="020B0604020202020204" charset="0"/>
              </a:rPr>
              <a:t>I plotted a heat map and pair plot using all continuous attributes and observed a positive correlation among them.</a:t>
            </a:r>
            <a:endParaRPr lang="en-IN" sz="1200" dirty="0">
              <a:latin typeface="IBM Plex Mono" panose="020B0604020202020204"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4001" y="1268461"/>
            <a:ext cx="3499306" cy="2547022"/>
          </a:xfrm>
          <a:prstGeom prst="rect">
            <a:avLst/>
          </a:prstGeom>
        </p:spPr>
      </p:pic>
    </p:spTree>
    <p:extLst>
      <p:ext uri="{BB962C8B-B14F-4D97-AF65-F5344CB8AC3E}">
        <p14:creationId xmlns:p14="http://schemas.microsoft.com/office/powerpoint/2010/main" val="335197749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35459" y="523570"/>
            <a:ext cx="670997" cy="400110"/>
          </a:xfrm>
          <a:prstGeom prst="rect">
            <a:avLst/>
          </a:prstGeom>
          <a:noFill/>
        </p:spPr>
        <p:txBody>
          <a:bodyPr wrap="square" rtlCol="0">
            <a:spAutoFit/>
          </a:bodyPr>
          <a:lstStyle/>
          <a:p>
            <a:r>
              <a:rPr lang="en-US" sz="2000" b="1" dirty="0" smtClean="0">
                <a:solidFill>
                  <a:schemeClr val="bg2"/>
                </a:solidFill>
                <a:latin typeface="Poppins" panose="020B0604020202020204" charset="0"/>
                <a:cs typeface="Poppins" panose="020B0604020202020204" charset="0"/>
              </a:rPr>
              <a:t>03</a:t>
            </a:r>
            <a:endParaRPr lang="en-IN" sz="2000" b="1" dirty="0">
              <a:solidFill>
                <a:schemeClr val="bg2"/>
              </a:solidFill>
              <a:latin typeface="Poppins" panose="020B0604020202020204" charset="0"/>
              <a:cs typeface="Poppins" panose="020B0604020202020204" charset="0"/>
            </a:endParaRPr>
          </a:p>
        </p:txBody>
      </p:sp>
      <p:sp>
        <p:nvSpPr>
          <p:cNvPr id="7" name="TextBox 6"/>
          <p:cNvSpPr txBox="1"/>
          <p:nvPr/>
        </p:nvSpPr>
        <p:spPr>
          <a:xfrm>
            <a:off x="1420937" y="523570"/>
            <a:ext cx="6117929" cy="923330"/>
          </a:xfrm>
          <a:prstGeom prst="rect">
            <a:avLst/>
          </a:prstGeom>
          <a:noFill/>
        </p:spPr>
        <p:txBody>
          <a:bodyPr wrap="square" rtlCol="0">
            <a:spAutoFit/>
          </a:bodyPr>
          <a:lstStyle/>
          <a:p>
            <a:pPr lvl="0"/>
            <a:r>
              <a:rPr lang="en-US" sz="2000" b="1" dirty="0">
                <a:solidFill>
                  <a:schemeClr val="bg2"/>
                </a:solidFill>
                <a:latin typeface="IBM Plex Mono" panose="020B0604020202020204" charset="0"/>
              </a:rPr>
              <a:t>Solving Key Research Challenges in Knee Arthroplasty</a:t>
            </a:r>
          </a:p>
          <a:p>
            <a:endParaRPr lang="en-IN" dirty="0"/>
          </a:p>
        </p:txBody>
      </p:sp>
      <p:sp>
        <p:nvSpPr>
          <p:cNvPr id="8" name="TextBox 7"/>
          <p:cNvSpPr txBox="1"/>
          <p:nvPr/>
        </p:nvSpPr>
        <p:spPr>
          <a:xfrm>
            <a:off x="835459" y="1223762"/>
            <a:ext cx="7400719" cy="523220"/>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IBM Plex Mono" panose="020B0604020202020204" charset="0"/>
              </a:rPr>
              <a:t>Describe cost and hospital length of stay (LOS), by payer type (Payment Typology</a:t>
            </a:r>
            <a:r>
              <a:rPr lang="en-US" dirty="0" smtClean="0">
                <a:latin typeface="IBM Plex Mono" panose="020B0604020202020204" charset="0"/>
              </a:rPr>
              <a:t>)</a:t>
            </a:r>
            <a:endParaRPr lang="en-US" dirty="0">
              <a:latin typeface="IBM Plex Mono" panose="020B0604020202020204" charset="0"/>
            </a:endParaRPr>
          </a:p>
        </p:txBody>
      </p:sp>
      <p:sp>
        <p:nvSpPr>
          <p:cNvPr id="10" name="TextBox 9"/>
          <p:cNvSpPr txBox="1"/>
          <p:nvPr/>
        </p:nvSpPr>
        <p:spPr>
          <a:xfrm>
            <a:off x="457199" y="3920737"/>
            <a:ext cx="8157237" cy="646331"/>
          </a:xfrm>
          <a:prstGeom prst="rect">
            <a:avLst/>
          </a:prstGeom>
          <a:noFill/>
        </p:spPr>
        <p:txBody>
          <a:bodyPr wrap="square" rtlCol="0">
            <a:spAutoFit/>
          </a:bodyPr>
          <a:lstStyle/>
          <a:p>
            <a:pPr algn="just"/>
            <a:r>
              <a:rPr lang="en-US" sz="1200" dirty="0">
                <a:latin typeface="IBM Plex Mono" panose="020B0604020202020204" charset="0"/>
              </a:rPr>
              <a:t>I used the mean values of Total Cost and Length of Stay to analyze them concerning the type of payer. The data revealed that both the average Length of Stay and Total Cost are higher for self-pay patients.</a:t>
            </a:r>
            <a:endParaRPr lang="en-IN" dirty="0">
              <a:latin typeface="IBM Plex Mono" panose="020B060402020202020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6456" y="1829212"/>
            <a:ext cx="6117929" cy="2022451"/>
          </a:xfrm>
          <a:prstGeom prst="rect">
            <a:avLst/>
          </a:prstGeom>
        </p:spPr>
      </p:pic>
    </p:spTree>
    <p:extLst>
      <p:ext uri="{BB962C8B-B14F-4D97-AF65-F5344CB8AC3E}">
        <p14:creationId xmlns:p14="http://schemas.microsoft.com/office/powerpoint/2010/main" val="35816286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136" y="881508"/>
            <a:ext cx="4775931" cy="2743469"/>
          </a:xfrm>
          <a:prstGeom prst="rect">
            <a:avLst/>
          </a:prstGeom>
        </p:spPr>
      </p:pic>
      <p:sp>
        <p:nvSpPr>
          <p:cNvPr id="6" name="TextBox 5"/>
          <p:cNvSpPr txBox="1"/>
          <p:nvPr/>
        </p:nvSpPr>
        <p:spPr>
          <a:xfrm>
            <a:off x="934136" y="4019951"/>
            <a:ext cx="7137584" cy="461665"/>
          </a:xfrm>
          <a:prstGeom prst="rect">
            <a:avLst/>
          </a:prstGeom>
          <a:noFill/>
        </p:spPr>
        <p:txBody>
          <a:bodyPr wrap="square" rtlCol="0">
            <a:spAutoFit/>
          </a:bodyPr>
          <a:lstStyle/>
          <a:p>
            <a:r>
              <a:rPr lang="en-US" sz="1200" dirty="0">
                <a:latin typeface="IBM Plex Mono" panose="020B0604020202020204" charset="0"/>
              </a:rPr>
              <a:t>The data revealed that the average Length of Stay </a:t>
            </a:r>
            <a:r>
              <a:rPr lang="en-US" sz="1200" dirty="0" smtClean="0">
                <a:latin typeface="IBM Plex Mono" panose="020B0604020202020204" charset="0"/>
              </a:rPr>
              <a:t>and </a:t>
            </a:r>
            <a:r>
              <a:rPr lang="en-US" sz="1200" dirty="0">
                <a:latin typeface="IBM Plex Mono" panose="020B0604020202020204" charset="0"/>
              </a:rPr>
              <a:t>Total </a:t>
            </a:r>
            <a:r>
              <a:rPr lang="en-US" sz="1200" dirty="0" smtClean="0">
                <a:latin typeface="IBM Plex Mono" panose="020B0604020202020204" charset="0"/>
              </a:rPr>
              <a:t>Costs </a:t>
            </a:r>
            <a:r>
              <a:rPr lang="en-US" sz="1200" dirty="0">
                <a:latin typeface="IBM Plex Mono" panose="020B0604020202020204" charset="0"/>
              </a:rPr>
              <a:t>appears to be higher for </a:t>
            </a:r>
            <a:r>
              <a:rPr lang="en-US" sz="1200" dirty="0" smtClean="0">
                <a:latin typeface="IBM Plex Mono" panose="020B0604020202020204" charset="0"/>
              </a:rPr>
              <a:t>Government Insurance</a:t>
            </a:r>
            <a:endParaRPr lang="en-IN" sz="1200" dirty="0"/>
          </a:p>
        </p:txBody>
      </p:sp>
      <p:sp>
        <p:nvSpPr>
          <p:cNvPr id="7" name="TextBox 6"/>
          <p:cNvSpPr txBox="1"/>
          <p:nvPr/>
        </p:nvSpPr>
        <p:spPr>
          <a:xfrm>
            <a:off x="5769274" y="644685"/>
            <a:ext cx="2302446" cy="3447098"/>
          </a:xfrm>
          <a:prstGeom prst="rect">
            <a:avLst/>
          </a:prstGeom>
          <a:noFill/>
        </p:spPr>
        <p:txBody>
          <a:bodyPr wrap="square" rtlCol="0">
            <a:spAutoFit/>
          </a:bodyPr>
          <a:lstStyle/>
          <a:p>
            <a:r>
              <a:rPr lang="en-US" sz="1200" b="1" dirty="0" smtClean="0">
                <a:latin typeface="IBM Plex Mono" panose="020B0604020202020204" charset="0"/>
              </a:rPr>
              <a:t>Government </a:t>
            </a:r>
            <a:r>
              <a:rPr lang="en-US" sz="1200" b="1" dirty="0">
                <a:latin typeface="IBM Plex Mono" panose="020B0604020202020204" charset="0"/>
              </a:rPr>
              <a:t>Insurance:</a:t>
            </a:r>
            <a:endParaRPr lang="en-US" sz="1200" dirty="0">
              <a:latin typeface="IBM Plex Mono" panose="020B0604020202020204" charset="0"/>
            </a:endParaRPr>
          </a:p>
          <a:p>
            <a:pPr marL="171450" lvl="1" indent="-171450">
              <a:buFont typeface="Arial" panose="020B0604020202020204" pitchFamily="34" charset="0"/>
              <a:buChar char="•"/>
            </a:pPr>
            <a:r>
              <a:rPr lang="en-US" sz="1200" dirty="0">
                <a:latin typeface="IBM Plex Mono" panose="020B0604020202020204" charset="0"/>
              </a:rPr>
              <a:t>Medicare</a:t>
            </a:r>
          </a:p>
          <a:p>
            <a:pPr marL="171450" lvl="1" indent="-171450">
              <a:buFont typeface="Arial" panose="020B0604020202020204" pitchFamily="34" charset="0"/>
              <a:buChar char="•"/>
            </a:pPr>
            <a:r>
              <a:rPr lang="en-US" sz="1200" dirty="0">
                <a:latin typeface="IBM Plex Mono" panose="020B0604020202020204" charset="0"/>
              </a:rPr>
              <a:t>Medicaid</a:t>
            </a:r>
          </a:p>
          <a:p>
            <a:pPr marL="171450" lvl="1" indent="-171450">
              <a:buFont typeface="Arial" panose="020B0604020202020204" pitchFamily="34" charset="0"/>
              <a:buChar char="•"/>
            </a:pPr>
            <a:r>
              <a:rPr lang="en-US" sz="1200" dirty="0">
                <a:latin typeface="IBM Plex Mono" panose="020B0604020202020204" charset="0"/>
              </a:rPr>
              <a:t>Federal/State/Local/VA</a:t>
            </a:r>
          </a:p>
          <a:p>
            <a:pPr marL="171450" lvl="1" indent="-171450">
              <a:buFont typeface="Arial" panose="020B0604020202020204" pitchFamily="34" charset="0"/>
              <a:buChar char="•"/>
            </a:pPr>
            <a:r>
              <a:rPr lang="en-US" sz="1200" dirty="0">
                <a:latin typeface="IBM Plex Mono" panose="020B0604020202020204" charset="0"/>
              </a:rPr>
              <a:t>Department of </a:t>
            </a:r>
            <a:r>
              <a:rPr lang="en-US" sz="1200" dirty="0" smtClean="0">
                <a:latin typeface="IBM Plex Mono" panose="020B0604020202020204" charset="0"/>
              </a:rPr>
              <a:t>Corrections</a:t>
            </a:r>
          </a:p>
          <a:p>
            <a:pPr lvl="1"/>
            <a:endParaRPr lang="en-US" sz="1200" dirty="0">
              <a:latin typeface="IBM Plex Mono" panose="020B0604020202020204" charset="0"/>
            </a:endParaRPr>
          </a:p>
          <a:p>
            <a:r>
              <a:rPr lang="en-US" sz="1200" b="1" dirty="0">
                <a:latin typeface="IBM Plex Mono" panose="020B0604020202020204" charset="0"/>
              </a:rPr>
              <a:t>Private Payers:</a:t>
            </a:r>
            <a:endParaRPr lang="en-US" sz="1200" dirty="0">
              <a:latin typeface="IBM Plex Mono" panose="020B0604020202020204" charset="0"/>
            </a:endParaRPr>
          </a:p>
          <a:p>
            <a:pPr marL="285750" lvl="1" indent="-285750">
              <a:buFont typeface="Arial" panose="020B0604020202020204" pitchFamily="34" charset="0"/>
              <a:buChar char="•"/>
            </a:pPr>
            <a:r>
              <a:rPr lang="en-US" sz="1200" dirty="0">
                <a:latin typeface="IBM Plex Mono" panose="020B0604020202020204" charset="0"/>
              </a:rPr>
              <a:t>Private Health Insurance</a:t>
            </a:r>
          </a:p>
          <a:p>
            <a:pPr marL="285750" lvl="1" indent="-285750">
              <a:buFont typeface="Arial" panose="020B0604020202020204" pitchFamily="34" charset="0"/>
              <a:buChar char="•"/>
            </a:pPr>
            <a:r>
              <a:rPr lang="en-US" sz="1200" dirty="0">
                <a:latin typeface="IBM Plex Mono" panose="020B0604020202020204" charset="0"/>
              </a:rPr>
              <a:t>Blue Cross/Blue Shield</a:t>
            </a:r>
          </a:p>
          <a:p>
            <a:pPr marL="285750" lvl="1" indent="-285750">
              <a:buFont typeface="Arial" panose="020B0604020202020204" pitchFamily="34" charset="0"/>
              <a:buChar char="•"/>
            </a:pPr>
            <a:r>
              <a:rPr lang="en-US" sz="1200" dirty="0">
                <a:latin typeface="IBM Plex Mono" panose="020B0604020202020204" charset="0"/>
              </a:rPr>
              <a:t>Miscellaneous/Other</a:t>
            </a:r>
          </a:p>
          <a:p>
            <a:pPr marL="285750" lvl="1" indent="-285750">
              <a:buFont typeface="Arial" panose="020B0604020202020204" pitchFamily="34" charset="0"/>
              <a:buChar char="•"/>
            </a:pPr>
            <a:r>
              <a:rPr lang="en-US" sz="1200" dirty="0">
                <a:latin typeface="IBM Plex Mono" panose="020B0604020202020204" charset="0"/>
              </a:rPr>
              <a:t>Managed </a:t>
            </a:r>
            <a:r>
              <a:rPr lang="en-US" sz="1200" dirty="0" smtClean="0">
                <a:latin typeface="IBM Plex Mono" panose="020B0604020202020204" charset="0"/>
              </a:rPr>
              <a:t>Care, Unspecified</a:t>
            </a:r>
            <a:endParaRPr lang="en-US" sz="1200" dirty="0">
              <a:latin typeface="IBM Plex Mono" panose="020B0604020202020204" charset="0"/>
            </a:endParaRPr>
          </a:p>
          <a:p>
            <a:pPr marL="285750" lvl="1" indent="-285750">
              <a:buFont typeface="Arial" panose="020B0604020202020204" pitchFamily="34" charset="0"/>
              <a:buChar char="•"/>
            </a:pPr>
            <a:r>
              <a:rPr lang="en-US" sz="1200" dirty="0">
                <a:latin typeface="IBM Plex Mono" panose="020B0604020202020204" charset="0"/>
              </a:rPr>
              <a:t>Self-Pay</a:t>
            </a:r>
          </a:p>
          <a:p>
            <a:endParaRPr lang="en-IN" dirty="0"/>
          </a:p>
        </p:txBody>
      </p:sp>
    </p:spTree>
    <p:extLst>
      <p:ext uri="{BB962C8B-B14F-4D97-AF65-F5344CB8AC3E}">
        <p14:creationId xmlns:p14="http://schemas.microsoft.com/office/powerpoint/2010/main" val="18258041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19655" y="648796"/>
            <a:ext cx="6900760" cy="523220"/>
          </a:xfrm>
          <a:prstGeom prst="rect">
            <a:avLst/>
          </a:prstGeom>
          <a:noFill/>
        </p:spPr>
        <p:txBody>
          <a:bodyPr wrap="square" rtlCol="0">
            <a:spAutoFit/>
          </a:bodyPr>
          <a:lstStyle/>
          <a:p>
            <a:pPr marL="171450" indent="-171450">
              <a:buFont typeface="Arial" panose="020B0604020202020204" pitchFamily="34" charset="0"/>
              <a:buChar char="•"/>
            </a:pPr>
            <a:r>
              <a:rPr lang="en-US" b="1" dirty="0">
                <a:latin typeface="IBM Plex Mono" panose="020B0604020202020204" charset="0"/>
              </a:rPr>
              <a:t>What is the payer mix (distribution of all available payers), by Hospital service area</a:t>
            </a:r>
            <a:r>
              <a:rPr lang="en-US" b="1" dirty="0" smtClean="0">
                <a:latin typeface="IBM Plex Mono" panose="020B0604020202020204" charset="0"/>
              </a:rPr>
              <a:t>?</a:t>
            </a:r>
            <a:endParaRPr lang="en-US" b="1" dirty="0">
              <a:latin typeface="IBM Plex Mono" panose="020B0604020202020204"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6683" y="1172016"/>
            <a:ext cx="5196950" cy="2511897"/>
          </a:xfrm>
          <a:prstGeom prst="rect">
            <a:avLst/>
          </a:prstGeom>
        </p:spPr>
      </p:pic>
      <p:sp>
        <p:nvSpPr>
          <p:cNvPr id="8" name="TextBox 7"/>
          <p:cNvSpPr txBox="1"/>
          <p:nvPr/>
        </p:nvSpPr>
        <p:spPr>
          <a:xfrm>
            <a:off x="1184115" y="3729963"/>
            <a:ext cx="7407298" cy="1200329"/>
          </a:xfrm>
          <a:prstGeom prst="rect">
            <a:avLst/>
          </a:prstGeom>
          <a:noFill/>
        </p:spPr>
        <p:txBody>
          <a:bodyPr wrap="square" rtlCol="0">
            <a:spAutoFit/>
          </a:bodyPr>
          <a:lstStyle/>
          <a:p>
            <a:pPr marL="171450" indent="-171450" algn="just">
              <a:buFont typeface="Arial" panose="020B0604020202020204" pitchFamily="34" charset="0"/>
              <a:buChar char="•"/>
            </a:pPr>
            <a:r>
              <a:rPr lang="en-US" sz="1200" dirty="0">
                <a:latin typeface="IBM Plex Mono" panose="020B0604020202020204" charset="0"/>
              </a:rPr>
              <a:t>I</a:t>
            </a:r>
            <a:r>
              <a:rPr lang="en-US" sz="1200" dirty="0" smtClean="0">
                <a:latin typeface="IBM Plex Mono" panose="020B0604020202020204" charset="0"/>
              </a:rPr>
              <a:t> </a:t>
            </a:r>
            <a:r>
              <a:rPr lang="en-US" sz="1200" dirty="0">
                <a:latin typeface="IBM Plex Mono" panose="020B0604020202020204" charset="0"/>
              </a:rPr>
              <a:t>grouped data by hospital service area and payer type, calculated group sizes, converted counts to percentages, and visualized the distribution with a stacked bar chart to show payer mix within each service area.</a:t>
            </a:r>
          </a:p>
          <a:p>
            <a:pPr marL="171450" indent="-171450" algn="just">
              <a:buFont typeface="Arial" panose="020B0604020202020204" pitchFamily="34" charset="0"/>
              <a:buChar char="•"/>
            </a:pPr>
            <a:endParaRPr lang="en-US" sz="1200" dirty="0">
              <a:latin typeface="IBM Plex Mono" panose="020B0604020202020204" charset="0"/>
            </a:endParaRPr>
          </a:p>
          <a:p>
            <a:pPr marL="171450" indent="-171450" algn="just">
              <a:buFont typeface="Arial" panose="020B0604020202020204" pitchFamily="34" charset="0"/>
              <a:buChar char="•"/>
            </a:pPr>
            <a:r>
              <a:rPr lang="en-US" sz="1200" dirty="0">
                <a:latin typeface="IBM Plex Mono" panose="020B0604020202020204" charset="0"/>
              </a:rPr>
              <a:t>The analysis revealed that the percentage of Medicare payers is higher across all hospital service areas in New York State.</a:t>
            </a:r>
            <a:endParaRPr lang="en-IN" sz="1200" dirty="0">
              <a:latin typeface="IBM Plex Mono" panose="020B0604020202020204" charset="0"/>
            </a:endParaRPr>
          </a:p>
        </p:txBody>
      </p:sp>
    </p:spTree>
    <p:extLst>
      <p:ext uri="{BB962C8B-B14F-4D97-AF65-F5344CB8AC3E}">
        <p14:creationId xmlns:p14="http://schemas.microsoft.com/office/powerpoint/2010/main" val="28164323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20978" y="3723384"/>
            <a:ext cx="7367828" cy="646331"/>
          </a:xfrm>
          <a:prstGeom prst="rect">
            <a:avLst/>
          </a:prstGeom>
          <a:noFill/>
        </p:spPr>
        <p:txBody>
          <a:bodyPr wrap="square" rtlCol="0">
            <a:spAutoFit/>
          </a:bodyPr>
          <a:lstStyle/>
          <a:p>
            <a:pPr algn="just"/>
            <a:r>
              <a:rPr lang="en-US" sz="1200" dirty="0">
                <a:latin typeface="IBM Plex Mono" panose="020B0604020202020204" charset="0"/>
              </a:rPr>
              <a:t>The analysis showed that Government Insurance accounts for over 60% of payers across all hospital service areas in New York State, compared to private payers.</a:t>
            </a:r>
            <a:endParaRPr lang="en-IN" sz="1200" dirty="0">
              <a:latin typeface="IBM Plex Mono" panose="020B060402020202020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6986" y="572324"/>
            <a:ext cx="6275812" cy="3151060"/>
          </a:xfrm>
          <a:prstGeom prst="rect">
            <a:avLst/>
          </a:prstGeom>
        </p:spPr>
      </p:pic>
    </p:spTree>
    <p:extLst>
      <p:ext uri="{BB962C8B-B14F-4D97-AF65-F5344CB8AC3E}">
        <p14:creationId xmlns:p14="http://schemas.microsoft.com/office/powerpoint/2010/main" val="27947643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5" name="TextBox 4"/>
          <p:cNvSpPr txBox="1"/>
          <p:nvPr/>
        </p:nvSpPr>
        <p:spPr>
          <a:xfrm>
            <a:off x="1039390" y="572322"/>
            <a:ext cx="6775770" cy="523220"/>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IBM Plex Mono" panose="020B0604020202020204" charset="0"/>
              </a:rPr>
              <a:t>What are the factors that influence cost? How about LOS? Are the factors similar? Why and why not</a:t>
            </a:r>
            <a:r>
              <a:rPr lang="en-US" b="1" dirty="0" smtClean="0">
                <a:latin typeface="IBM Plex Mono" panose="020B0604020202020204" charset="0"/>
              </a:rPr>
              <a:t>?</a:t>
            </a:r>
            <a:endParaRPr lang="en-US" b="1" dirty="0">
              <a:latin typeface="IBM Plex Mono" panose="020B0604020202020204" charset="0"/>
            </a:endParaRPr>
          </a:p>
        </p:txBody>
      </p:sp>
      <p:sp>
        <p:nvSpPr>
          <p:cNvPr id="7" name="TextBox 6"/>
          <p:cNvSpPr txBox="1"/>
          <p:nvPr/>
        </p:nvSpPr>
        <p:spPr>
          <a:xfrm>
            <a:off x="1427517" y="1381468"/>
            <a:ext cx="6065300" cy="2492990"/>
          </a:xfrm>
          <a:prstGeom prst="rect">
            <a:avLst/>
          </a:prstGeom>
          <a:noFill/>
        </p:spPr>
        <p:txBody>
          <a:bodyPr wrap="square" rtlCol="0">
            <a:spAutoFit/>
          </a:bodyPr>
          <a:lstStyle/>
          <a:p>
            <a:pPr marL="171450" indent="-171450" algn="just">
              <a:buFont typeface="Wingdings" panose="05000000000000000000" pitchFamily="2" charset="2"/>
              <a:buChar char="q"/>
            </a:pPr>
            <a:r>
              <a:rPr lang="en-US" sz="1200" dirty="0">
                <a:latin typeface="IBM Plex Mono" panose="020B0604020202020204" charset="0"/>
              </a:rPr>
              <a:t>I </a:t>
            </a:r>
            <a:r>
              <a:rPr lang="en-US" sz="1200" dirty="0" smtClean="0">
                <a:latin typeface="IBM Plex Mono" panose="020B0604020202020204" charset="0"/>
              </a:rPr>
              <a:t>used </a:t>
            </a:r>
            <a:r>
              <a:rPr lang="en-US" sz="1200" b="1" dirty="0">
                <a:latin typeface="IBM Plex Mono" panose="020B0604020202020204" charset="0"/>
              </a:rPr>
              <a:t>Feature Importance Analysis using OLS Regression</a:t>
            </a:r>
            <a:r>
              <a:rPr lang="en-US" sz="1200" dirty="0">
                <a:latin typeface="IBM Plex Mono" panose="020B0604020202020204" charset="0"/>
              </a:rPr>
              <a:t> to identify factors influencing Total Costs and Length of Stay.</a:t>
            </a:r>
          </a:p>
          <a:p>
            <a:pPr marL="171450" indent="-171450" algn="just">
              <a:buFont typeface="Wingdings" panose="05000000000000000000" pitchFamily="2" charset="2"/>
              <a:buChar char="q"/>
            </a:pPr>
            <a:endParaRPr lang="en-US" sz="1200" dirty="0">
              <a:latin typeface="IBM Plex Mono" panose="020B0604020202020204" charset="0"/>
            </a:endParaRPr>
          </a:p>
          <a:p>
            <a:pPr marL="171450" indent="-171450" algn="just">
              <a:buFont typeface="Wingdings" panose="05000000000000000000" pitchFamily="2" charset="2"/>
              <a:buChar char="q"/>
            </a:pPr>
            <a:r>
              <a:rPr lang="en-US" sz="1200" dirty="0">
                <a:latin typeface="IBM Plex Mono" panose="020B0604020202020204" charset="0"/>
              </a:rPr>
              <a:t>Converted categorical variables into numerical format using dummy variables.</a:t>
            </a:r>
          </a:p>
          <a:p>
            <a:pPr marL="171450" indent="-171450" algn="just">
              <a:buFont typeface="Wingdings" panose="05000000000000000000" pitchFamily="2" charset="2"/>
              <a:buChar char="q"/>
            </a:pPr>
            <a:endParaRPr lang="en-US" sz="1200" dirty="0">
              <a:latin typeface="IBM Plex Mono" panose="020B0604020202020204" charset="0"/>
            </a:endParaRPr>
          </a:p>
          <a:p>
            <a:pPr marL="171450" indent="-171450" algn="just">
              <a:buFont typeface="Wingdings" panose="05000000000000000000" pitchFamily="2" charset="2"/>
              <a:buChar char="q"/>
            </a:pPr>
            <a:r>
              <a:rPr lang="en-US" sz="1200" dirty="0">
                <a:latin typeface="IBM Plex Mono" panose="020B0604020202020204" charset="0"/>
              </a:rPr>
              <a:t>Normalized continuous variables with MinMaxScaler.</a:t>
            </a:r>
          </a:p>
          <a:p>
            <a:pPr marL="171450" indent="-171450" algn="just">
              <a:buFont typeface="Wingdings" panose="05000000000000000000" pitchFamily="2" charset="2"/>
              <a:buChar char="q"/>
            </a:pPr>
            <a:endParaRPr lang="en-US" sz="1200" dirty="0">
              <a:latin typeface="IBM Plex Mono" panose="020B0604020202020204" charset="0"/>
            </a:endParaRPr>
          </a:p>
          <a:p>
            <a:pPr marL="171450" indent="-171450" algn="just">
              <a:buFont typeface="Wingdings" panose="05000000000000000000" pitchFamily="2" charset="2"/>
              <a:buChar char="q"/>
            </a:pPr>
            <a:r>
              <a:rPr lang="en-US" sz="1200" dirty="0">
                <a:latin typeface="IBM Plex Mono" panose="020B0604020202020204" charset="0"/>
              </a:rPr>
              <a:t>Applied OLS regression to determine feature importance, initially without splitting the data.</a:t>
            </a:r>
          </a:p>
          <a:p>
            <a:pPr marL="171450" indent="-171450" algn="just">
              <a:buFont typeface="Wingdings" panose="05000000000000000000" pitchFamily="2" charset="2"/>
              <a:buChar char="q"/>
            </a:pPr>
            <a:endParaRPr lang="en-US" sz="1200" dirty="0">
              <a:latin typeface="IBM Plex Mono" panose="020B0604020202020204" charset="0"/>
            </a:endParaRPr>
          </a:p>
          <a:p>
            <a:pPr marL="171450" indent="-171450" algn="just">
              <a:buFont typeface="Wingdings" panose="05000000000000000000" pitchFamily="2" charset="2"/>
              <a:buChar char="q"/>
            </a:pPr>
            <a:r>
              <a:rPr lang="en-US" sz="1200" dirty="0">
                <a:latin typeface="IBM Plex Mono" panose="020B0604020202020204" charset="0"/>
              </a:rPr>
              <a:t>Validated the model's reliability by performing train-test splits, ensuring consistent results.</a:t>
            </a:r>
            <a:endParaRPr lang="en-IN" sz="1200" dirty="0">
              <a:latin typeface="IBM Plex Mono" panose="020B0604020202020204" charset="0"/>
            </a:endParaRPr>
          </a:p>
        </p:txBody>
      </p:sp>
    </p:spTree>
    <p:extLst>
      <p:ext uri="{BB962C8B-B14F-4D97-AF65-F5344CB8AC3E}">
        <p14:creationId xmlns:p14="http://schemas.microsoft.com/office/powerpoint/2010/main" val="38375646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335417" y="1190694"/>
            <a:ext cx="5525871" cy="2012995"/>
          </a:xfrm>
          <a:prstGeom prst="rect">
            <a:avLst/>
          </a:prstGeom>
        </p:spPr>
      </p:pic>
      <p:sp>
        <p:nvSpPr>
          <p:cNvPr id="6" name="TextBox 5"/>
          <p:cNvSpPr txBox="1"/>
          <p:nvPr/>
        </p:nvSpPr>
        <p:spPr>
          <a:xfrm>
            <a:off x="1335417" y="723626"/>
            <a:ext cx="6117928" cy="307777"/>
          </a:xfrm>
          <a:prstGeom prst="rect">
            <a:avLst/>
          </a:prstGeom>
          <a:noFill/>
        </p:spPr>
        <p:txBody>
          <a:bodyPr wrap="square" rtlCol="0">
            <a:spAutoFit/>
          </a:bodyPr>
          <a:lstStyle/>
          <a:p>
            <a:r>
              <a:rPr lang="en-US" b="1" dirty="0">
                <a:latin typeface="IBM Plex Mono" panose="020B0604020202020204" charset="0"/>
              </a:rPr>
              <a:t>Most Influential Features for Estimating Total Costs</a:t>
            </a:r>
            <a:endParaRPr lang="en-IN" b="1" dirty="0">
              <a:latin typeface="IBM Plex Mono" panose="020B0604020202020204" charset="0"/>
            </a:endParaRPr>
          </a:p>
        </p:txBody>
      </p:sp>
      <p:sp>
        <p:nvSpPr>
          <p:cNvPr id="7" name="TextBox 6"/>
          <p:cNvSpPr txBox="1"/>
          <p:nvPr/>
        </p:nvSpPr>
        <p:spPr>
          <a:xfrm>
            <a:off x="743362" y="3362980"/>
            <a:ext cx="7802003" cy="1200329"/>
          </a:xfrm>
          <a:prstGeom prst="rect">
            <a:avLst/>
          </a:prstGeom>
          <a:noFill/>
        </p:spPr>
        <p:txBody>
          <a:bodyPr wrap="square" rtlCol="0">
            <a:spAutoFit/>
          </a:bodyPr>
          <a:lstStyle/>
          <a:p>
            <a:pPr marL="171450" indent="-171450" algn="just">
              <a:buFont typeface="Arial" panose="020B0604020202020204" pitchFamily="34" charset="0"/>
              <a:buChar char="•"/>
            </a:pPr>
            <a:r>
              <a:rPr lang="en-US" sz="1200" dirty="0">
                <a:latin typeface="IBM Plex Mono" panose="020B0604020202020204" charset="0"/>
              </a:rPr>
              <a:t>The top 10 important features identified with and without splitting the dataset are largely consistent, indicating stability in feature importance across different modeling approaches.</a:t>
            </a:r>
          </a:p>
          <a:p>
            <a:pPr marL="171450" indent="-171450" algn="just">
              <a:buFont typeface="Arial" panose="020B0604020202020204" pitchFamily="34" charset="0"/>
              <a:buChar char="•"/>
            </a:pPr>
            <a:r>
              <a:rPr lang="en-US" sz="1200" dirty="0">
                <a:latin typeface="IBM Plex Mono" panose="020B0604020202020204" charset="0"/>
              </a:rPr>
              <a:t>The R² value of 0.87 suggests a strong fit of the model to the data, demonstrating that the model explains a significant portion of the variance in the target variable.</a:t>
            </a:r>
            <a:endParaRPr lang="en-IN" sz="1200" dirty="0">
              <a:latin typeface="IBM Plex Mono" panose="020B0604020202020204" charset="0"/>
            </a:endParaRPr>
          </a:p>
        </p:txBody>
      </p:sp>
    </p:spTree>
    <p:extLst>
      <p:ext uri="{BB962C8B-B14F-4D97-AF65-F5344CB8AC3E}">
        <p14:creationId xmlns:p14="http://schemas.microsoft.com/office/powerpoint/2010/main" val="8923805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335417" y="723626"/>
            <a:ext cx="6117928" cy="307777"/>
          </a:xfrm>
          <a:prstGeom prst="rect">
            <a:avLst/>
          </a:prstGeom>
          <a:noFill/>
        </p:spPr>
        <p:txBody>
          <a:bodyPr wrap="square" rtlCol="0">
            <a:spAutoFit/>
          </a:bodyPr>
          <a:lstStyle/>
          <a:p>
            <a:r>
              <a:rPr lang="en-US" b="1" dirty="0">
                <a:latin typeface="IBM Plex Mono" panose="020B0604020202020204" charset="0"/>
              </a:rPr>
              <a:t>Most Influential Features for Estimating </a:t>
            </a:r>
            <a:r>
              <a:rPr lang="en-US" b="1" dirty="0" smtClean="0">
                <a:latin typeface="IBM Plex Mono" panose="020B0604020202020204" charset="0"/>
              </a:rPr>
              <a:t>Length of Stay</a:t>
            </a:r>
            <a:endParaRPr lang="en-IN" b="1" dirty="0">
              <a:latin typeface="IBM Plex Mono" panose="020B0604020202020204" charset="0"/>
            </a:endParaRPr>
          </a:p>
        </p:txBody>
      </p:sp>
      <p:sp>
        <p:nvSpPr>
          <p:cNvPr id="7" name="TextBox 6"/>
          <p:cNvSpPr txBox="1"/>
          <p:nvPr/>
        </p:nvSpPr>
        <p:spPr>
          <a:xfrm>
            <a:off x="743362" y="3362980"/>
            <a:ext cx="7802003" cy="1200329"/>
          </a:xfrm>
          <a:prstGeom prst="rect">
            <a:avLst/>
          </a:prstGeom>
          <a:noFill/>
        </p:spPr>
        <p:txBody>
          <a:bodyPr wrap="square" rtlCol="0">
            <a:spAutoFit/>
          </a:bodyPr>
          <a:lstStyle/>
          <a:p>
            <a:pPr marL="171450" indent="-171450" algn="just">
              <a:buFont typeface="Arial" panose="020B0604020202020204" pitchFamily="34" charset="0"/>
              <a:buChar char="•"/>
            </a:pPr>
            <a:r>
              <a:rPr lang="en-US" sz="1200" dirty="0">
                <a:latin typeface="IBM Plex Mono" panose="020B0604020202020204" charset="0"/>
              </a:rPr>
              <a:t>The top 10 important features identified with and without splitting the dataset are largely consistent, indicating stability in feature importance across different modeling approaches.</a:t>
            </a:r>
          </a:p>
          <a:p>
            <a:pPr marL="171450" indent="-171450" algn="just">
              <a:buFont typeface="Arial" panose="020B0604020202020204" pitchFamily="34" charset="0"/>
              <a:buChar char="•"/>
            </a:pPr>
            <a:r>
              <a:rPr lang="en-US" sz="1200" dirty="0">
                <a:latin typeface="IBM Plex Mono" panose="020B0604020202020204" charset="0"/>
              </a:rPr>
              <a:t>The R² value of 0.62 indicates a moderate fit of the model to the data, showing that the model explains a significant portion, but not all, of the variance in the target variable.</a:t>
            </a:r>
            <a:endParaRPr lang="en-IN" sz="1200" dirty="0">
              <a:latin typeface="IBM Plex Mono" panose="020B0604020202020204" charset="0"/>
            </a:endParaRPr>
          </a:p>
        </p:txBody>
      </p:sp>
      <p:pic>
        <p:nvPicPr>
          <p:cNvPr id="8" name="Picture 7"/>
          <p:cNvPicPr>
            <a:picLocks noChangeAspect="1"/>
          </p:cNvPicPr>
          <p:nvPr/>
        </p:nvPicPr>
        <p:blipFill>
          <a:blip r:embed="rId2"/>
          <a:stretch>
            <a:fillRect/>
          </a:stretch>
        </p:blipFill>
        <p:spPr>
          <a:xfrm>
            <a:off x="1335417" y="1190694"/>
            <a:ext cx="5749538" cy="2012995"/>
          </a:xfrm>
          <a:prstGeom prst="rect">
            <a:avLst/>
          </a:prstGeom>
        </p:spPr>
      </p:pic>
    </p:spTree>
    <p:extLst>
      <p:ext uri="{BB962C8B-B14F-4D97-AF65-F5344CB8AC3E}">
        <p14:creationId xmlns:p14="http://schemas.microsoft.com/office/powerpoint/2010/main" val="30594036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grpSp>
        <p:nvGrpSpPr>
          <p:cNvPr id="1486" name="Google Shape;1486;p38"/>
          <p:cNvGrpSpPr/>
          <p:nvPr/>
        </p:nvGrpSpPr>
        <p:grpSpPr>
          <a:xfrm>
            <a:off x="-374387" y="3354325"/>
            <a:ext cx="3922590" cy="2969900"/>
            <a:chOff x="-374387" y="3354325"/>
            <a:chExt cx="3922590" cy="2969900"/>
          </a:xfrm>
        </p:grpSpPr>
        <p:pic>
          <p:nvPicPr>
            <p:cNvPr id="1487" name="Google Shape;1487;p38"/>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p:cNvGrpSpPr/>
            <p:nvPr/>
          </p:nvGrpSpPr>
          <p:grpSpPr>
            <a:xfrm>
              <a:off x="1853583" y="4445557"/>
              <a:ext cx="1694620" cy="1360169"/>
              <a:chOff x="7945225" y="4302000"/>
              <a:chExt cx="904666" cy="726121"/>
            </a:xfrm>
          </p:grpSpPr>
          <p:sp>
            <p:nvSpPr>
              <p:cNvPr id="1489" name="Google Shape;1489;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3" name="Google Shape;1493;p38"/>
          <p:cNvGrpSpPr/>
          <p:nvPr/>
        </p:nvGrpSpPr>
        <p:grpSpPr>
          <a:xfrm>
            <a:off x="6487513" y="-1301175"/>
            <a:ext cx="4268216" cy="6666030"/>
            <a:chOff x="6128138" y="-1301175"/>
            <a:chExt cx="4268216" cy="6666030"/>
          </a:xfrm>
        </p:grpSpPr>
        <p:sp>
          <p:nvSpPr>
            <p:cNvPr id="1494" name="Google Shape;1494;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9" name="Google Shape;1499;p38"/>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500" name="Google Shape;1500;p38"/>
            <p:cNvGrpSpPr/>
            <p:nvPr/>
          </p:nvGrpSpPr>
          <p:grpSpPr>
            <a:xfrm rot="5400000">
              <a:off x="7873341" y="4254316"/>
              <a:ext cx="708100" cy="708500"/>
              <a:chOff x="3678700" y="407275"/>
              <a:chExt cx="708100" cy="708500"/>
            </a:xfrm>
          </p:grpSpPr>
          <p:sp>
            <p:nvSpPr>
              <p:cNvPr id="1501" name="Google Shape;1501;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8"/>
            <p:cNvGrpSpPr/>
            <p:nvPr/>
          </p:nvGrpSpPr>
          <p:grpSpPr>
            <a:xfrm rot="5400000">
              <a:off x="8639847" y="3354200"/>
              <a:ext cx="457787" cy="458045"/>
              <a:chOff x="3678700" y="407275"/>
              <a:chExt cx="708100" cy="708500"/>
            </a:xfrm>
          </p:grpSpPr>
          <p:sp>
            <p:nvSpPr>
              <p:cNvPr id="1509" name="Google Shape;1509;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8"/>
            <p:cNvGrpSpPr/>
            <p:nvPr/>
          </p:nvGrpSpPr>
          <p:grpSpPr>
            <a:xfrm>
              <a:off x="7787267" y="539497"/>
              <a:ext cx="208184" cy="208184"/>
              <a:chOff x="8356813" y="1074288"/>
              <a:chExt cx="351900" cy="351900"/>
            </a:xfrm>
          </p:grpSpPr>
          <p:sp>
            <p:nvSpPr>
              <p:cNvPr id="1517" name="Google Shape;1517;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38"/>
            <p:cNvGrpSpPr/>
            <p:nvPr/>
          </p:nvGrpSpPr>
          <p:grpSpPr>
            <a:xfrm>
              <a:off x="7194842" y="2467660"/>
              <a:ext cx="208184" cy="208184"/>
              <a:chOff x="8356813" y="1074288"/>
              <a:chExt cx="351900" cy="351900"/>
            </a:xfrm>
          </p:grpSpPr>
          <p:sp>
            <p:nvSpPr>
              <p:cNvPr id="1520" name="Google Shape;1520;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2" name="Google Shape;1522;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38"/>
          <p:cNvGrpSpPr/>
          <p:nvPr/>
        </p:nvGrpSpPr>
        <p:grpSpPr>
          <a:xfrm>
            <a:off x="714151" y="4517538"/>
            <a:ext cx="4558967" cy="134100"/>
            <a:chOff x="796100" y="3019701"/>
            <a:chExt cx="4558967" cy="134100"/>
          </a:xfrm>
        </p:grpSpPr>
        <p:sp>
          <p:nvSpPr>
            <p:cNvPr id="1524" name="Google Shape;1524;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p:cNvSpPr txBox="1"/>
          <p:nvPr/>
        </p:nvSpPr>
        <p:spPr>
          <a:xfrm>
            <a:off x="969743" y="1405831"/>
            <a:ext cx="7403108" cy="2492990"/>
          </a:xfrm>
          <a:prstGeom prst="rect">
            <a:avLst/>
          </a:prstGeom>
          <a:noFill/>
        </p:spPr>
        <p:txBody>
          <a:bodyPr wrap="square" rtlCol="0">
            <a:spAutoFit/>
          </a:bodyPr>
          <a:lstStyle/>
          <a:p>
            <a:pPr marL="171450" indent="-171450" algn="just">
              <a:buFont typeface="Arial" panose="020B0604020202020204" pitchFamily="34" charset="0"/>
              <a:buChar char="•"/>
            </a:pPr>
            <a:r>
              <a:rPr lang="en-US" sz="1200" dirty="0" smtClean="0">
                <a:latin typeface="IBM Plex Mono" panose="020B0604020202020204" charset="0"/>
              </a:rPr>
              <a:t>Total Costs, APR </a:t>
            </a:r>
            <a:r>
              <a:rPr lang="en-US" sz="1200" dirty="0">
                <a:latin typeface="IBM Plex Mono" panose="020B0604020202020204" charset="0"/>
              </a:rPr>
              <a:t>DRG Description, CCSR Diagnosis Description, and Facility Name are common important features influencing both Total Costs and Length of </a:t>
            </a:r>
            <a:r>
              <a:rPr lang="en-US" sz="1200" dirty="0" smtClean="0">
                <a:latin typeface="IBM Plex Mono" panose="020B0604020202020204" charset="0"/>
              </a:rPr>
              <a:t>Stay</a:t>
            </a:r>
          </a:p>
          <a:p>
            <a:pPr algn="just"/>
            <a:endParaRPr lang="en-US" sz="1200" dirty="0">
              <a:latin typeface="IBM Plex Mono" panose="020B0604020202020204" charset="0"/>
            </a:endParaRPr>
          </a:p>
          <a:p>
            <a:pPr marL="171450" indent="-171450" algn="just">
              <a:buFont typeface="Arial" panose="020B0604020202020204" pitchFamily="34" charset="0"/>
              <a:buChar char="•"/>
            </a:pPr>
            <a:r>
              <a:rPr lang="en-US" sz="1200" dirty="0" smtClean="0">
                <a:latin typeface="IBM Plex Mono" panose="020B0604020202020204" charset="0"/>
              </a:rPr>
              <a:t>Total </a:t>
            </a:r>
            <a:r>
              <a:rPr lang="en-US" sz="1200" dirty="0">
                <a:latin typeface="IBM Plex Mono" panose="020B0604020202020204" charset="0"/>
              </a:rPr>
              <a:t>Costs is more influenced by overall charges and specific procedures, whereas LOS is more affected by Total Costs and diagnoses like COVID-19 and heart failure</a:t>
            </a:r>
            <a:r>
              <a:rPr lang="en-US" sz="1200" dirty="0" smtClean="0">
                <a:latin typeface="IBM Plex Mono" panose="020B0604020202020204" charset="0"/>
              </a:rPr>
              <a:t>.</a:t>
            </a:r>
          </a:p>
          <a:p>
            <a:pPr marL="171450" indent="-171450" algn="just">
              <a:buFont typeface="Arial" panose="020B0604020202020204" pitchFamily="34" charset="0"/>
              <a:buChar char="•"/>
            </a:pPr>
            <a:endParaRPr lang="en-US" sz="1200" dirty="0">
              <a:latin typeface="IBM Plex Mono" panose="020B0604020202020204" charset="0"/>
            </a:endParaRPr>
          </a:p>
          <a:p>
            <a:pPr marL="171450" indent="-171450" algn="just">
              <a:buFont typeface="Arial" panose="020B0604020202020204" pitchFamily="34" charset="0"/>
              <a:buChar char="•"/>
            </a:pPr>
            <a:r>
              <a:rPr lang="en-US" sz="1200" dirty="0" smtClean="0">
                <a:latin typeface="IBM Plex Mono" panose="020B0604020202020204" charset="0"/>
              </a:rPr>
              <a:t>There </a:t>
            </a:r>
            <a:r>
              <a:rPr lang="en-US" sz="1200" dirty="0">
                <a:latin typeface="IBM Plex Mono" panose="020B0604020202020204" charset="0"/>
              </a:rPr>
              <a:t>is overlap in factors affecting Total Costs and LOS, but their specific influences differ</a:t>
            </a:r>
            <a:r>
              <a:rPr lang="en-US" sz="1200">
                <a:latin typeface="IBM Plex Mono" panose="020B0604020202020204" charset="0"/>
              </a:rPr>
              <a:t>. </a:t>
            </a:r>
            <a:endParaRPr lang="en-US" sz="1200" smtClean="0">
              <a:latin typeface="IBM Plex Mono" panose="020B0604020202020204" charset="0"/>
            </a:endParaRPr>
          </a:p>
          <a:p>
            <a:pPr marL="171450" indent="-171450" algn="just">
              <a:buFont typeface="Arial" panose="020B0604020202020204" pitchFamily="34" charset="0"/>
              <a:buChar char="•"/>
            </a:pPr>
            <a:endParaRPr lang="en-US" sz="1200" dirty="0">
              <a:latin typeface="IBM Plex Mono" panose="020B0604020202020204" charset="0"/>
            </a:endParaRPr>
          </a:p>
          <a:p>
            <a:pPr marL="171450" indent="-171450" algn="just">
              <a:buFont typeface="Arial" panose="020B0604020202020204" pitchFamily="34" charset="0"/>
              <a:buChar char="•"/>
            </a:pPr>
            <a:r>
              <a:rPr lang="en-US" sz="1200" dirty="0" smtClean="0">
                <a:latin typeface="IBM Plex Mono" panose="020B0604020202020204" charset="0"/>
              </a:rPr>
              <a:t>From this we can conclude that </a:t>
            </a:r>
            <a:r>
              <a:rPr lang="en-US" sz="1200" dirty="0">
                <a:latin typeface="IBM Plex Mono" panose="020B0604020202020204" charset="0"/>
              </a:rPr>
              <a:t>intensity and complexity of care directly impact both </a:t>
            </a:r>
            <a:r>
              <a:rPr lang="en-US" sz="1200" dirty="0" smtClean="0">
                <a:latin typeface="IBM Plex Mono" panose="020B0604020202020204" charset="0"/>
              </a:rPr>
              <a:t>Total </a:t>
            </a:r>
            <a:r>
              <a:rPr lang="en-US" sz="1200" dirty="0">
                <a:latin typeface="IBM Plex Mono" panose="020B0604020202020204" charset="0"/>
              </a:rPr>
              <a:t>costs and </a:t>
            </a:r>
            <a:r>
              <a:rPr lang="en-US" sz="1200" dirty="0" smtClean="0">
                <a:latin typeface="IBM Plex Mono" panose="020B0604020202020204" charset="0"/>
              </a:rPr>
              <a:t>the Length of Stay.</a:t>
            </a:r>
            <a:endParaRPr lang="en-IN" sz="1200" dirty="0">
              <a:latin typeface="IBM Plex Mono" panose="020B0604020202020204" charset="0"/>
            </a:endParaRPr>
          </a:p>
        </p:txBody>
      </p:sp>
      <p:sp>
        <p:nvSpPr>
          <p:cNvPr id="6" name="TextBox 5"/>
          <p:cNvSpPr txBox="1"/>
          <p:nvPr/>
        </p:nvSpPr>
        <p:spPr>
          <a:xfrm>
            <a:off x="1110827" y="718328"/>
            <a:ext cx="6994059" cy="307777"/>
          </a:xfrm>
          <a:prstGeom prst="rect">
            <a:avLst/>
          </a:prstGeom>
          <a:noFill/>
        </p:spPr>
        <p:txBody>
          <a:bodyPr wrap="square" rtlCol="0">
            <a:spAutoFit/>
          </a:bodyPr>
          <a:lstStyle/>
          <a:p>
            <a:r>
              <a:rPr lang="en-US" b="1" dirty="0" smtClean="0">
                <a:latin typeface="IBM Plex Mono" panose="020B0604020202020204" charset="0"/>
              </a:rPr>
              <a:t>Comparing Important features of Total Costs and Length of Stay</a:t>
            </a:r>
            <a:endParaRPr lang="en-IN" b="1" dirty="0">
              <a:latin typeface="IBM Plex Mono" panose="020B0604020202020204" charset="0"/>
            </a:endParaRPr>
          </a:p>
        </p:txBody>
      </p:sp>
    </p:spTree>
    <p:extLst>
      <p:ext uri="{BB962C8B-B14F-4D97-AF65-F5344CB8AC3E}">
        <p14:creationId xmlns:p14="http://schemas.microsoft.com/office/powerpoint/2010/main" val="25441139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45968" y="585479"/>
            <a:ext cx="7288887" cy="954107"/>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latin typeface="IBM Plex Mono" panose="020B0604020202020204" charset="0"/>
              </a:rPr>
              <a:t>We have a hypothesis that patients with government insurance has higher cost compared to those private payers. How do you test this hypothesis statistically, adjusting for factors that you identified in #3</a:t>
            </a:r>
            <a:r>
              <a:rPr lang="en-US" b="1" dirty="0" smtClean="0">
                <a:latin typeface="IBM Plex Mono" panose="020B0604020202020204" charset="0"/>
              </a:rPr>
              <a:t>?</a:t>
            </a:r>
            <a:endParaRPr lang="en-US" b="1" dirty="0">
              <a:latin typeface="IBM Plex Mono" panose="020B0604020202020204" charset="0"/>
            </a:endParaRPr>
          </a:p>
        </p:txBody>
      </p:sp>
      <p:sp>
        <p:nvSpPr>
          <p:cNvPr id="6" name="TextBox 5"/>
          <p:cNvSpPr txBox="1"/>
          <p:nvPr/>
        </p:nvSpPr>
        <p:spPr>
          <a:xfrm>
            <a:off x="1295731" y="1575064"/>
            <a:ext cx="6519211" cy="1015663"/>
          </a:xfrm>
          <a:prstGeom prst="rect">
            <a:avLst/>
          </a:prstGeom>
          <a:noFill/>
        </p:spPr>
        <p:txBody>
          <a:bodyPr wrap="square" rtlCol="0">
            <a:spAutoFit/>
          </a:bodyPr>
          <a:lstStyle/>
          <a:p>
            <a:pPr marL="171450" indent="-171450" algn="just">
              <a:buFont typeface="Wingdings" panose="05000000000000000000" pitchFamily="2" charset="2"/>
              <a:buChar char="q"/>
            </a:pPr>
            <a:r>
              <a:rPr lang="en-US" sz="1200" b="1" dirty="0">
                <a:latin typeface="IBM Plex Mono" panose="020B0604020202020204" charset="0"/>
              </a:rPr>
              <a:t>Null Hypothesis (H0): </a:t>
            </a:r>
            <a:r>
              <a:rPr lang="en-US" sz="1200" dirty="0">
                <a:latin typeface="IBM Plex Mono" panose="020B0604020202020204" charset="0"/>
              </a:rPr>
              <a:t>There is no difference in the costs between patients with government insurance and those with private payers</a:t>
            </a:r>
            <a:r>
              <a:rPr lang="en-US" sz="1200" dirty="0" smtClean="0">
                <a:latin typeface="IBM Plex Mono" panose="020B0604020202020204" charset="0"/>
              </a:rPr>
              <a:t>.</a:t>
            </a:r>
          </a:p>
          <a:p>
            <a:pPr algn="just"/>
            <a:endParaRPr lang="en-US" sz="1200" dirty="0">
              <a:latin typeface="IBM Plex Mono" panose="020B0604020202020204" charset="0"/>
            </a:endParaRPr>
          </a:p>
          <a:p>
            <a:pPr marL="171450" indent="-171450" algn="just">
              <a:buFont typeface="Wingdings" panose="05000000000000000000" pitchFamily="2" charset="2"/>
              <a:buChar char="q"/>
            </a:pPr>
            <a:r>
              <a:rPr lang="en-US" sz="1200" b="1" dirty="0">
                <a:latin typeface="IBM Plex Mono" panose="020B0604020202020204" charset="0"/>
              </a:rPr>
              <a:t>Alternative Hypothesis (H1): </a:t>
            </a:r>
            <a:r>
              <a:rPr lang="en-US" sz="1200" dirty="0">
                <a:latin typeface="IBM Plex Mono" panose="020B0604020202020204" charset="0"/>
              </a:rPr>
              <a:t>Patients with government insurance have higher costs compared to those with private payers.</a:t>
            </a:r>
            <a:endParaRPr lang="en-IN" sz="1200" dirty="0">
              <a:latin typeface="IBM Plex Mono" panose="020B0604020202020204" charset="0"/>
            </a:endParaRPr>
          </a:p>
        </p:txBody>
      </p:sp>
      <p:pic>
        <p:nvPicPr>
          <p:cNvPr id="8" name="Picture 7"/>
          <p:cNvPicPr>
            <a:picLocks noChangeAspect="1"/>
          </p:cNvPicPr>
          <p:nvPr/>
        </p:nvPicPr>
        <p:blipFill>
          <a:blip r:embed="rId2"/>
          <a:stretch>
            <a:fillRect/>
          </a:stretch>
        </p:blipFill>
        <p:spPr>
          <a:xfrm>
            <a:off x="2243242" y="2535988"/>
            <a:ext cx="4624190" cy="654544"/>
          </a:xfrm>
          <a:prstGeom prst="rect">
            <a:avLst/>
          </a:prstGeom>
        </p:spPr>
      </p:pic>
      <p:sp>
        <p:nvSpPr>
          <p:cNvPr id="9" name="TextBox 8"/>
          <p:cNvSpPr txBox="1"/>
          <p:nvPr/>
        </p:nvSpPr>
        <p:spPr>
          <a:xfrm>
            <a:off x="917689" y="3190532"/>
            <a:ext cx="7716482" cy="1569660"/>
          </a:xfrm>
          <a:prstGeom prst="rect">
            <a:avLst/>
          </a:prstGeom>
          <a:noFill/>
        </p:spPr>
        <p:txBody>
          <a:bodyPr wrap="square" rtlCol="0">
            <a:spAutoFit/>
          </a:bodyPr>
          <a:lstStyle/>
          <a:p>
            <a:pPr marL="171450" indent="-171450" algn="just">
              <a:buFont typeface="Arial" panose="020B0604020202020204" pitchFamily="34" charset="0"/>
              <a:buChar char="•"/>
            </a:pPr>
            <a:r>
              <a:rPr lang="en-US" sz="1200" dirty="0">
                <a:latin typeface="IBM Plex Mono" panose="020B0604020202020204" charset="0"/>
              </a:rPr>
              <a:t>Given that the p-value for Payer Type is 0.001, which is below the typical significance level of 0.05, we reject the null hypothesis. This result indicates a statistically significant difference in costs between government insurance and private payers, with government insurance being associated with higher costs</a:t>
            </a:r>
            <a:r>
              <a:rPr lang="en-US" sz="1200" dirty="0" smtClean="0">
                <a:latin typeface="IBM Plex Mono" panose="020B0604020202020204" charset="0"/>
              </a:rPr>
              <a:t>.</a:t>
            </a:r>
          </a:p>
          <a:p>
            <a:pPr marL="171450" indent="-171450" algn="just">
              <a:buFont typeface="Arial" panose="020B0604020202020204" pitchFamily="34" charset="0"/>
              <a:buChar char="•"/>
            </a:pPr>
            <a:endParaRPr lang="en-US" sz="1200" dirty="0">
              <a:latin typeface="IBM Plex Mono" panose="020B0604020202020204" charset="0"/>
            </a:endParaRPr>
          </a:p>
          <a:p>
            <a:pPr marL="171450" indent="-171450" algn="just">
              <a:buFont typeface="Arial" panose="020B0604020202020204" pitchFamily="34" charset="0"/>
              <a:buChar char="•"/>
            </a:pPr>
            <a:r>
              <a:rPr lang="en-US" sz="1200" dirty="0">
                <a:latin typeface="IBM Plex Mono" panose="020B0604020202020204" charset="0"/>
              </a:rPr>
              <a:t>Even when performing hypothesis testing directly with </a:t>
            </a:r>
            <a:r>
              <a:rPr lang="en-US" sz="1200" dirty="0" err="1" smtClean="0">
                <a:latin typeface="IBM Plex Mono" panose="020B0604020202020204" charset="0"/>
              </a:rPr>
              <a:t>ttest_ind</a:t>
            </a:r>
            <a:r>
              <a:rPr lang="en-US" sz="1200" dirty="0" smtClean="0">
                <a:latin typeface="IBM Plex Mono" panose="020B0604020202020204" charset="0"/>
              </a:rPr>
              <a:t>, </a:t>
            </a:r>
            <a:r>
              <a:rPr lang="en-US" sz="1200" dirty="0">
                <a:latin typeface="IBM Plex Mono" panose="020B0604020202020204" charset="0"/>
              </a:rPr>
              <a:t>the p-value remained low, leading to the rejection of the null hypothesis.</a:t>
            </a:r>
            <a:endParaRPr lang="en-IN" sz="1200" dirty="0">
              <a:latin typeface="IBM Plex Mono" panose="020B0604020202020204" charset="0"/>
            </a:endParaRPr>
          </a:p>
        </p:txBody>
      </p:sp>
    </p:spTree>
    <p:extLst>
      <p:ext uri="{BB962C8B-B14F-4D97-AF65-F5344CB8AC3E}">
        <p14:creationId xmlns:p14="http://schemas.microsoft.com/office/powerpoint/2010/main" val="26270672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68311" y="703891"/>
            <a:ext cx="6210026" cy="523220"/>
          </a:xfrm>
          <a:prstGeom prst="rect">
            <a:avLst/>
          </a:prstGeom>
          <a:noFill/>
        </p:spPr>
        <p:txBody>
          <a:bodyPr wrap="square" rtlCol="0">
            <a:spAutoFit/>
          </a:bodyPr>
          <a:lstStyle/>
          <a:p>
            <a:pPr marL="285750" indent="-285750">
              <a:buFont typeface="Arial" panose="020B0604020202020204" pitchFamily="34" charset="0"/>
              <a:buChar char="•"/>
            </a:pPr>
            <a:r>
              <a:rPr lang="en-US" b="1" dirty="0" smtClean="0">
                <a:latin typeface="IBM Plex Mono" panose="020B0604020202020204" charset="0"/>
              </a:rPr>
              <a:t>Why </a:t>
            </a:r>
            <a:r>
              <a:rPr lang="en-US" b="1" dirty="0">
                <a:latin typeface="IBM Plex Mono" panose="020B0604020202020204" charset="0"/>
              </a:rPr>
              <a:t>are these questions important for our business?</a:t>
            </a:r>
          </a:p>
          <a:p>
            <a:endParaRPr lang="en-IN" dirty="0"/>
          </a:p>
        </p:txBody>
      </p:sp>
      <p:sp>
        <p:nvSpPr>
          <p:cNvPr id="6" name="TextBox 5"/>
          <p:cNvSpPr txBox="1"/>
          <p:nvPr/>
        </p:nvSpPr>
        <p:spPr>
          <a:xfrm>
            <a:off x="1295948" y="1388046"/>
            <a:ext cx="6657358" cy="1754326"/>
          </a:xfrm>
          <a:prstGeom prst="rect">
            <a:avLst/>
          </a:prstGeom>
          <a:noFill/>
        </p:spPr>
        <p:txBody>
          <a:bodyPr wrap="square" rtlCol="0">
            <a:spAutoFit/>
          </a:bodyPr>
          <a:lstStyle/>
          <a:p>
            <a:pPr marL="171450" indent="-171450" algn="just">
              <a:buFont typeface="Wingdings" panose="05000000000000000000" pitchFamily="2" charset="2"/>
              <a:buChar char="q"/>
            </a:pPr>
            <a:r>
              <a:rPr lang="en-US" sz="1200" dirty="0">
                <a:latin typeface="IBM Plex Mono" panose="020B0604020202020204" charset="0"/>
              </a:rPr>
              <a:t>Understanding cost and length of stay by payer type helps optimize resource allocation and manage expenses more </a:t>
            </a:r>
            <a:r>
              <a:rPr lang="en-US" sz="1200" dirty="0" smtClean="0">
                <a:latin typeface="IBM Plex Mono" panose="020B0604020202020204" charset="0"/>
              </a:rPr>
              <a:t>effectively.</a:t>
            </a:r>
            <a:endParaRPr lang="en-US" sz="1200" dirty="0">
              <a:latin typeface="IBM Plex Mono" panose="020B0604020202020204" charset="0"/>
            </a:endParaRPr>
          </a:p>
          <a:p>
            <a:pPr marL="171450" indent="-171450" algn="just">
              <a:buFont typeface="Wingdings" panose="05000000000000000000" pitchFamily="2" charset="2"/>
              <a:buChar char="q"/>
            </a:pPr>
            <a:endParaRPr lang="en-US" sz="1200" dirty="0">
              <a:latin typeface="IBM Plex Mono" panose="020B0604020202020204" charset="0"/>
            </a:endParaRPr>
          </a:p>
          <a:p>
            <a:pPr marL="171450" indent="-171450" algn="just">
              <a:buFont typeface="Wingdings" panose="05000000000000000000" pitchFamily="2" charset="2"/>
              <a:buChar char="q"/>
            </a:pPr>
            <a:r>
              <a:rPr lang="en-US" sz="1200" dirty="0">
                <a:latin typeface="IBM Plex Mono" panose="020B0604020202020204" charset="0"/>
              </a:rPr>
              <a:t>Analyzing payer distribution by region and the impact of different payer types supports strategic decisions on market </a:t>
            </a:r>
            <a:r>
              <a:rPr lang="en-US" sz="1200" dirty="0" smtClean="0">
                <a:latin typeface="IBM Plex Mono" panose="020B0604020202020204" charset="0"/>
              </a:rPr>
              <a:t>access.</a:t>
            </a:r>
            <a:endParaRPr lang="en-US" sz="1200" dirty="0">
              <a:latin typeface="IBM Plex Mono" panose="020B0604020202020204" charset="0"/>
            </a:endParaRPr>
          </a:p>
          <a:p>
            <a:pPr marL="171450" indent="-171450" algn="just">
              <a:buFont typeface="Wingdings" panose="05000000000000000000" pitchFamily="2" charset="2"/>
              <a:buChar char="q"/>
            </a:pPr>
            <a:endParaRPr lang="en-US" sz="1200" dirty="0">
              <a:latin typeface="IBM Plex Mono" panose="020B0604020202020204" charset="0"/>
            </a:endParaRPr>
          </a:p>
          <a:p>
            <a:pPr marL="171450" indent="-171450" algn="just">
              <a:buFont typeface="Wingdings" panose="05000000000000000000" pitchFamily="2" charset="2"/>
              <a:buChar char="q"/>
            </a:pPr>
            <a:r>
              <a:rPr lang="en-US" sz="1200" dirty="0">
                <a:latin typeface="IBM Plex Mono" panose="020B0604020202020204" charset="0"/>
              </a:rPr>
              <a:t>Testing hypotheses on payer impact helps us understand cost structures and financial effects, which guides our strategies for </a:t>
            </a:r>
            <a:r>
              <a:rPr lang="en-US" sz="1200" dirty="0" smtClean="0">
                <a:latin typeface="IBM Plex Mono" panose="020B0604020202020204" charset="0"/>
              </a:rPr>
              <a:t>pricing </a:t>
            </a:r>
            <a:r>
              <a:rPr lang="en-US" sz="1200" dirty="0">
                <a:latin typeface="IBM Plex Mono" panose="020B0604020202020204" charset="0"/>
              </a:rPr>
              <a:t>to meet healthcare economic goals.</a:t>
            </a:r>
            <a:endParaRPr lang="en-IN" sz="1200" dirty="0">
              <a:latin typeface="IBM Plex Mono" panose="020B0604020202020204" charset="0"/>
            </a:endParaRPr>
          </a:p>
        </p:txBody>
      </p:sp>
    </p:spTree>
    <p:extLst>
      <p:ext uri="{BB962C8B-B14F-4D97-AF65-F5344CB8AC3E}">
        <p14:creationId xmlns:p14="http://schemas.microsoft.com/office/powerpoint/2010/main" val="21620355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138066" y="1309105"/>
            <a:ext cx="6433692" cy="1754326"/>
          </a:xfrm>
          <a:prstGeom prst="rect">
            <a:avLst/>
          </a:prstGeom>
          <a:noFill/>
        </p:spPr>
        <p:txBody>
          <a:bodyPr wrap="square" rtlCol="0">
            <a:spAutoFit/>
          </a:bodyPr>
          <a:lstStyle/>
          <a:p>
            <a:pPr marL="171450" indent="-171450">
              <a:buFont typeface="Wingdings" panose="05000000000000000000" pitchFamily="2" charset="2"/>
              <a:buChar char="q"/>
            </a:pPr>
            <a:r>
              <a:rPr lang="en-US" sz="1200" dirty="0">
                <a:latin typeface="IBM Plex Mono" panose="020B0604020202020204" charset="0"/>
              </a:rPr>
              <a:t>The dataset is restricted to 2021, which may not capture long-term trends or </a:t>
            </a:r>
            <a:r>
              <a:rPr lang="en-US" sz="1200" dirty="0" smtClean="0">
                <a:latin typeface="IBM Plex Mono" panose="020B0604020202020204" charset="0"/>
              </a:rPr>
              <a:t>variations</a:t>
            </a:r>
            <a:endParaRPr lang="en-US" sz="1200" dirty="0">
              <a:latin typeface="IBM Plex Mono" panose="020B0604020202020204" charset="0"/>
            </a:endParaRPr>
          </a:p>
          <a:p>
            <a:pPr marL="171450" indent="-171450">
              <a:buFont typeface="Wingdings" panose="05000000000000000000" pitchFamily="2" charset="2"/>
              <a:buChar char="q"/>
            </a:pPr>
            <a:endParaRPr lang="en-US" sz="1200" dirty="0">
              <a:latin typeface="IBM Plex Mono" panose="020B0604020202020204" charset="0"/>
            </a:endParaRPr>
          </a:p>
          <a:p>
            <a:pPr marL="171450" indent="-171450">
              <a:buFont typeface="Wingdings" panose="05000000000000000000" pitchFamily="2" charset="2"/>
              <a:buChar char="q"/>
            </a:pPr>
            <a:r>
              <a:rPr lang="en-US" sz="1200" dirty="0">
                <a:latin typeface="IBM Plex Mono" panose="020B0604020202020204" charset="0"/>
              </a:rPr>
              <a:t>The analysis assumes the identified factors are the main drivers of costs and length of stay, potentially overlooking other relevant variables </a:t>
            </a:r>
            <a:r>
              <a:rPr lang="en-US" sz="1200" dirty="0" smtClean="0">
                <a:latin typeface="IBM Plex Mono" panose="020B0604020202020204" charset="0"/>
              </a:rPr>
              <a:t>not </a:t>
            </a:r>
            <a:r>
              <a:rPr lang="en-US" sz="1200" dirty="0">
                <a:latin typeface="IBM Plex Mono" panose="020B0604020202020204" charset="0"/>
              </a:rPr>
              <a:t>included in the model.</a:t>
            </a:r>
          </a:p>
          <a:p>
            <a:pPr marL="171450" indent="-171450">
              <a:buFont typeface="Wingdings" panose="05000000000000000000" pitchFamily="2" charset="2"/>
              <a:buChar char="q"/>
            </a:pPr>
            <a:endParaRPr lang="en-US" sz="1200" dirty="0">
              <a:latin typeface="IBM Plex Mono" panose="020B0604020202020204" charset="0"/>
            </a:endParaRPr>
          </a:p>
          <a:p>
            <a:pPr marL="171450" indent="-171450">
              <a:buFont typeface="Wingdings" panose="05000000000000000000" pitchFamily="2" charset="2"/>
              <a:buChar char="q"/>
            </a:pPr>
            <a:r>
              <a:rPr lang="en-US" sz="1200" dirty="0">
                <a:latin typeface="IBM Plex Mono" panose="020B0604020202020204" charset="0"/>
              </a:rPr>
              <a:t>Some categorical variables were grouped into broader categories, which may oversimplify the complexity </a:t>
            </a:r>
            <a:r>
              <a:rPr lang="en-US" sz="1200" dirty="0" smtClean="0">
                <a:latin typeface="IBM Plex Mono" panose="020B0604020202020204" charset="0"/>
              </a:rPr>
              <a:t>of models.</a:t>
            </a:r>
            <a:endParaRPr lang="en-IN" sz="1200" dirty="0">
              <a:latin typeface="IBM Plex Mono" panose="020B0604020202020204" charset="0"/>
            </a:endParaRPr>
          </a:p>
        </p:txBody>
      </p:sp>
      <p:sp>
        <p:nvSpPr>
          <p:cNvPr id="7" name="TextBox 6"/>
          <p:cNvSpPr txBox="1"/>
          <p:nvPr/>
        </p:nvSpPr>
        <p:spPr>
          <a:xfrm>
            <a:off x="1098596" y="736783"/>
            <a:ext cx="565744" cy="400110"/>
          </a:xfrm>
          <a:prstGeom prst="rect">
            <a:avLst/>
          </a:prstGeom>
          <a:noFill/>
        </p:spPr>
        <p:txBody>
          <a:bodyPr wrap="square" rtlCol="0">
            <a:spAutoFit/>
          </a:bodyPr>
          <a:lstStyle/>
          <a:p>
            <a:r>
              <a:rPr lang="en-US" sz="2000" b="1" dirty="0" smtClean="0">
                <a:solidFill>
                  <a:schemeClr val="bg2"/>
                </a:solidFill>
                <a:latin typeface="Poppins" panose="020B0604020202020204" charset="0"/>
                <a:cs typeface="Poppins" panose="020B0604020202020204" charset="0"/>
              </a:rPr>
              <a:t>04</a:t>
            </a:r>
            <a:endParaRPr lang="en-IN" sz="2000" b="1" dirty="0">
              <a:solidFill>
                <a:schemeClr val="bg2"/>
              </a:solidFill>
              <a:latin typeface="Poppins" panose="020B0604020202020204" charset="0"/>
              <a:cs typeface="Poppins" panose="020B0604020202020204" charset="0"/>
            </a:endParaRPr>
          </a:p>
        </p:txBody>
      </p:sp>
      <p:sp>
        <p:nvSpPr>
          <p:cNvPr id="8" name="TextBox 7"/>
          <p:cNvSpPr txBox="1"/>
          <p:nvPr/>
        </p:nvSpPr>
        <p:spPr>
          <a:xfrm>
            <a:off x="1723546" y="736783"/>
            <a:ext cx="3532610" cy="400110"/>
          </a:xfrm>
          <a:prstGeom prst="rect">
            <a:avLst/>
          </a:prstGeom>
          <a:noFill/>
        </p:spPr>
        <p:txBody>
          <a:bodyPr wrap="square" rtlCol="0">
            <a:spAutoFit/>
          </a:bodyPr>
          <a:lstStyle/>
          <a:p>
            <a:r>
              <a:rPr lang="en-US" sz="2000" b="1" dirty="0" smtClean="0">
                <a:solidFill>
                  <a:schemeClr val="bg2"/>
                </a:solidFill>
                <a:latin typeface="IBM Plex Mono" panose="020B0604020202020204" charset="0"/>
              </a:rPr>
              <a:t>Limitations</a:t>
            </a:r>
            <a:endParaRPr lang="en-IN" sz="2000" b="1" dirty="0">
              <a:solidFill>
                <a:schemeClr val="bg2"/>
              </a:solidFill>
              <a:latin typeface="IBM Plex Mono" panose="020B0604020202020204" charset="0"/>
            </a:endParaRPr>
          </a:p>
        </p:txBody>
      </p:sp>
    </p:spTree>
    <p:extLst>
      <p:ext uri="{BB962C8B-B14F-4D97-AF65-F5344CB8AC3E}">
        <p14:creationId xmlns:p14="http://schemas.microsoft.com/office/powerpoint/2010/main" val="38808392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953709" y="2236661"/>
            <a:ext cx="3230003" cy="707886"/>
          </a:xfrm>
          <a:prstGeom prst="rect">
            <a:avLst/>
          </a:prstGeom>
          <a:noFill/>
        </p:spPr>
        <p:txBody>
          <a:bodyPr wrap="square" rtlCol="0">
            <a:spAutoFit/>
          </a:bodyPr>
          <a:lstStyle/>
          <a:p>
            <a:r>
              <a:rPr lang="en-US" sz="4000" b="1" dirty="0" smtClean="0">
                <a:solidFill>
                  <a:schemeClr val="bg2"/>
                </a:solidFill>
                <a:latin typeface="IBM Plex Mono" panose="020B0604020202020204" charset="0"/>
              </a:rPr>
              <a:t>Thank You</a:t>
            </a:r>
            <a:endParaRPr lang="en-IN" sz="4000" b="1" dirty="0">
              <a:solidFill>
                <a:schemeClr val="bg2"/>
              </a:solidFill>
              <a:latin typeface="IBM Plex Mono" panose="020B0604020202020204" charset="0"/>
            </a:endParaRPr>
          </a:p>
        </p:txBody>
      </p:sp>
    </p:spTree>
    <p:extLst>
      <p:ext uri="{BB962C8B-B14F-4D97-AF65-F5344CB8AC3E}">
        <p14:creationId xmlns:p14="http://schemas.microsoft.com/office/powerpoint/2010/main" val="994423677"/>
      </p:ext>
    </p:extLst>
  </p:cSld>
  <p:clrMapOvr>
    <a:masterClrMapping/>
  </p:clrMapOvr>
  <p:timing>
    <p:tnLst>
      <p:par>
        <p:cTn id="1" dur="indefinite" restart="never" nodeType="tmRoot"/>
      </p:par>
    </p:tnLst>
  </p:timing>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3076</TotalTime>
  <Words>1092</Words>
  <Application>Microsoft Office PowerPoint</Application>
  <PresentationFormat>On-screen Show (16:9)</PresentationFormat>
  <Paragraphs>106</Paragraphs>
  <Slides>20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IBM Plex Mono</vt:lpstr>
      <vt:lpstr>Poppins</vt:lpstr>
      <vt:lpstr>Source Code Pro</vt:lpstr>
      <vt:lpstr>Arial</vt:lpstr>
      <vt:lpstr>Times New Roman</vt:lpstr>
      <vt:lpstr>Wingdings</vt:lpstr>
      <vt:lpstr>Introduction to Coding Workshop by Slidesgo</vt:lpstr>
      <vt:lpstr>Presentation Analyzing Hospital Inpatient Data Knee Arthroplasty Focus</vt:lpstr>
      <vt:lpstr>Agenda</vt:lpstr>
      <vt:lpstr>01</vt:lpstr>
      <vt:lpstr>02</vt:lpstr>
      <vt:lpstr>PowerPoint Presentation</vt:lpstr>
      <vt:lpstr>Univariate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Kth Largest Sum in a Binary Tree</dc:title>
  <cp:lastModifiedBy>Admin</cp:lastModifiedBy>
  <cp:revision>76</cp:revision>
  <dcterms:modified xsi:type="dcterms:W3CDTF">2024-07-25T16:28:17Z</dcterms:modified>
</cp:coreProperties>
</file>